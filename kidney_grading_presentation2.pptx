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9" autoAdjust="0"/>
    <p:restoredTop sz="94610"/>
  </p:normalViewPr>
  <p:slideViewPr>
    <p:cSldViewPr snapToGrid="0" snapToObjects="1">
      <p:cViewPr varScale="1">
        <p:scale>
          <a:sx n="82" d="100"/>
          <a:sy n="82" d="100"/>
        </p:scale>
        <p:origin x="72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3676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9006183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128911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0332293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7158202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4423883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8674235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9282396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3945366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0505988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361515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538815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2068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4/2/2026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623232184"/>
      </p:ext>
    </p:extLst>
  </p:cSld>
  <p:clrMap bg1="dk1" tx1="lt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8090"/>
        </a:solidFill>
        <a:effectLst/>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02A886"/>
          </a:solidFill>
          <a:ln w="12700">
            <a:solidFill>
              <a:srgbClr val="02A886"/>
            </a:solidFill>
            <a:prstDash val="solid"/>
          </a:ln>
        </p:spPr>
      </p:sp>
      <p:sp>
        <p:nvSpPr>
          <p:cNvPr id="3" name="Text 1"/>
          <p:cNvSpPr/>
          <p:nvPr/>
        </p:nvSpPr>
        <p:spPr>
          <a:xfrm>
            <a:off x="573314" y="190137"/>
            <a:ext cx="7971246" cy="3895633"/>
          </a:xfrm>
          <a:prstGeom prst="rect">
            <a:avLst/>
          </a:prstGeom>
          <a:noFill/>
          <a:ln/>
        </p:spPr>
        <p:txBody>
          <a:bodyPr wrap="square" rtlCol="0" anchor="ctr"/>
          <a:lstStyle/>
          <a:p>
            <a:pPr marL="0" indent="0" algn="ctr">
              <a:buNone/>
            </a:pPr>
            <a:r>
              <a:rPr lang="en-US" sz="3800" b="1" dirty="0">
                <a:solidFill>
                  <a:srgbClr val="FFFFFF"/>
                </a:solidFill>
                <a:latin typeface="Centaur" panose="02030504050205020304" pitchFamily="18" charset="0"/>
                <a:ea typeface="Calibri" pitchFamily="34" charset="-122"/>
                <a:cs typeface="Calibri" pitchFamily="34" charset="-120"/>
              </a:rPr>
              <a:t>Deep Learning-Based Classification of</a:t>
            </a:r>
            <a:endParaRPr lang="en-US" sz="3800" dirty="0">
              <a:latin typeface="Centaur" panose="02030504050205020304" pitchFamily="18" charset="0"/>
            </a:endParaRPr>
          </a:p>
          <a:p>
            <a:pPr marL="0" indent="0" algn="ctr">
              <a:buNone/>
            </a:pPr>
            <a:r>
              <a:rPr lang="en-US" sz="3800" b="1" dirty="0">
                <a:solidFill>
                  <a:srgbClr val="FFFFFF"/>
                </a:solidFill>
                <a:latin typeface="Centaur" panose="02030504050205020304" pitchFamily="18" charset="0"/>
                <a:ea typeface="Calibri" pitchFamily="34" charset="-122"/>
                <a:cs typeface="Calibri" pitchFamily="34" charset="-120"/>
              </a:rPr>
              <a:t>Diabetic Kidney Disease Severity</a:t>
            </a:r>
            <a:endParaRPr lang="en-US" sz="3800" dirty="0">
              <a:latin typeface="Centaur" panose="02030504050205020304" pitchFamily="18" charset="0"/>
            </a:endParaRPr>
          </a:p>
          <a:p>
            <a:pPr marL="0" indent="0" algn="ctr">
              <a:buNone/>
            </a:pPr>
            <a:r>
              <a:rPr lang="en-US" sz="3800" b="1" dirty="0">
                <a:solidFill>
                  <a:srgbClr val="FFFFFF"/>
                </a:solidFill>
                <a:latin typeface="Centaur" panose="02030504050205020304" pitchFamily="18" charset="0"/>
                <a:ea typeface="Calibri" pitchFamily="34" charset="-122"/>
                <a:cs typeface="Calibri" pitchFamily="34" charset="-120"/>
              </a:rPr>
              <a:t>from Histopathology Images</a:t>
            </a:r>
          </a:p>
          <a:p>
            <a:pPr marL="0" indent="0" algn="ctr">
              <a:buNone/>
            </a:pPr>
            <a:endParaRPr lang="en-US" sz="3800" b="1" dirty="0">
              <a:solidFill>
                <a:srgbClr val="FFFFFF"/>
              </a:solidFill>
              <a:latin typeface="Calibri" pitchFamily="34" charset="0"/>
              <a:ea typeface="Calibri" pitchFamily="34" charset="-122"/>
              <a:cs typeface="Calibri" pitchFamily="34" charset="-120"/>
            </a:endParaRPr>
          </a:p>
          <a:p>
            <a:pPr marL="0" indent="0" algn="r">
              <a:buNone/>
            </a:pPr>
            <a:r>
              <a:rPr lang="en-US" sz="2800" b="1" dirty="0">
                <a:solidFill>
                  <a:srgbClr val="FFFF00"/>
                </a:solidFill>
                <a:latin typeface="Calibri" pitchFamily="34" charset="0"/>
                <a:ea typeface="Calibri" pitchFamily="34" charset="-122"/>
                <a:cs typeface="Calibri" pitchFamily="34" charset="-120"/>
              </a:rPr>
              <a:t>NAME- KRISHNAM NAMITHAA</a:t>
            </a:r>
          </a:p>
          <a:p>
            <a:pPr marL="0" indent="0" algn="r">
              <a:buNone/>
            </a:pPr>
            <a:r>
              <a:rPr lang="en-US" sz="2800" b="1" dirty="0">
                <a:solidFill>
                  <a:srgbClr val="FFFF00"/>
                </a:solidFill>
                <a:latin typeface="Calibri" pitchFamily="34" charset="0"/>
                <a:ea typeface="Calibri" pitchFamily="34" charset="-122"/>
                <a:cs typeface="Calibri" pitchFamily="34" charset="-120"/>
              </a:rPr>
              <a:t>REGN0- 21MIC7112</a:t>
            </a:r>
          </a:p>
          <a:p>
            <a:pPr marL="0" indent="0" algn="ctr">
              <a:buNone/>
            </a:pPr>
            <a:endParaRPr lang="en-US" sz="2800" b="1" dirty="0">
              <a:solidFill>
                <a:srgbClr val="FFFF00"/>
              </a:solidFill>
              <a:latin typeface="Calibri" pitchFamily="34" charset="0"/>
              <a:ea typeface="Calibri" pitchFamily="34" charset="-122"/>
              <a:cs typeface="Calibri" pitchFamily="34" charset="-120"/>
            </a:endParaRPr>
          </a:p>
          <a:p>
            <a:pPr marL="0" indent="0">
              <a:buNone/>
            </a:pPr>
            <a:r>
              <a:rPr lang="en-US" sz="2800" b="1" dirty="0">
                <a:solidFill>
                  <a:srgbClr val="FFFF00"/>
                </a:solidFill>
                <a:latin typeface="Calibri" pitchFamily="34" charset="0"/>
                <a:ea typeface="Calibri" pitchFamily="34" charset="-122"/>
                <a:cs typeface="Calibri" pitchFamily="34" charset="-120"/>
              </a:rPr>
              <a:t>GUIDE- GOKUL YENDURI</a:t>
            </a:r>
            <a:endParaRPr lang="en-US" sz="2800" dirty="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Problem Statement &amp; Objectives</a:t>
            </a:r>
            <a:endParaRPr lang="en-US" sz="1700" dirty="0"/>
          </a:p>
        </p:txBody>
      </p:sp>
      <p:sp>
        <p:nvSpPr>
          <p:cNvPr id="4" name="Shape 2"/>
          <p:cNvSpPr/>
          <p:nvPr/>
        </p:nvSpPr>
        <p:spPr>
          <a:xfrm>
            <a:off x="274320" y="868680"/>
            <a:ext cx="4114800" cy="196596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5" name="Shape 3"/>
          <p:cNvSpPr/>
          <p:nvPr/>
        </p:nvSpPr>
        <p:spPr>
          <a:xfrm>
            <a:off x="274320" y="868680"/>
            <a:ext cx="64008" cy="1965960"/>
          </a:xfrm>
          <a:prstGeom prst="rect">
            <a:avLst/>
          </a:prstGeom>
          <a:solidFill>
            <a:srgbClr val="E85D04"/>
          </a:solidFill>
          <a:ln w="12700">
            <a:solidFill>
              <a:srgbClr val="E85D04"/>
            </a:solidFill>
            <a:prstDash val="solid"/>
          </a:ln>
        </p:spPr>
      </p:sp>
      <p:sp>
        <p:nvSpPr>
          <p:cNvPr id="6" name="Text 4"/>
          <p:cNvSpPr/>
          <p:nvPr/>
        </p:nvSpPr>
        <p:spPr>
          <a:xfrm>
            <a:off x="457200" y="914400"/>
            <a:ext cx="3749040" cy="347472"/>
          </a:xfrm>
          <a:prstGeom prst="rect">
            <a:avLst/>
          </a:prstGeom>
          <a:noFill/>
          <a:ln/>
        </p:spPr>
        <p:txBody>
          <a:bodyPr wrap="square" rtlCol="0" anchor="ctr"/>
          <a:lstStyle/>
          <a:p>
            <a:pPr marL="0" indent="0">
              <a:buNone/>
            </a:pPr>
            <a:r>
              <a:rPr lang="en-US" sz="1300" b="1" dirty="0">
                <a:solidFill>
                  <a:srgbClr val="E85D04"/>
                </a:solidFill>
                <a:latin typeface="Calibri" pitchFamily="34" charset="0"/>
                <a:ea typeface="Calibri" pitchFamily="34" charset="-122"/>
                <a:cs typeface="Calibri" pitchFamily="34" charset="-120"/>
              </a:rPr>
              <a:t>Problem</a:t>
            </a:r>
            <a:endParaRPr lang="en-US" sz="1300" dirty="0"/>
          </a:p>
        </p:txBody>
      </p:sp>
      <p:sp>
        <p:nvSpPr>
          <p:cNvPr id="7" name="Text 5"/>
          <p:cNvSpPr/>
          <p:nvPr/>
        </p:nvSpPr>
        <p:spPr>
          <a:xfrm>
            <a:off x="457200" y="1280160"/>
            <a:ext cx="3749040" cy="1463040"/>
          </a:xfrm>
          <a:prstGeom prst="rect">
            <a:avLst/>
          </a:prstGeom>
          <a:noFill/>
          <a:ln/>
        </p:spPr>
        <p:txBody>
          <a:bodyPr wrap="square" rtlCol="0" anchor="ctr"/>
          <a:lstStyle/>
          <a:p>
            <a:pPr marL="0" indent="0">
              <a:spcAft>
                <a:spcPts val="400"/>
              </a:spcAft>
              <a:buNone/>
            </a:pPr>
            <a:r>
              <a:rPr lang="en-US" sz="1150" dirty="0">
                <a:solidFill>
                  <a:srgbClr val="1C2B30"/>
                </a:solidFill>
                <a:latin typeface="Calibri" pitchFamily="34" charset="0"/>
                <a:ea typeface="Calibri" pitchFamily="34" charset="-122"/>
                <a:cs typeface="Calibri" pitchFamily="34" charset="-120"/>
              </a:rPr>
              <a:t>Kidney disease severity is assessed by analysing glomeruli tissue patches under a microscope.</a:t>
            </a:r>
            <a:endParaRPr lang="en-US" sz="1150" dirty="0"/>
          </a:p>
          <a:p>
            <a:pPr marL="0" indent="0">
              <a:spcAft>
                <a:spcPts val="400"/>
              </a:spcAft>
              <a:buNone/>
            </a:pPr>
            <a:r>
              <a:rPr lang="en-US" sz="1150" dirty="0">
                <a:solidFill>
                  <a:srgbClr val="1C2B30"/>
                </a:solidFill>
                <a:latin typeface="Calibri" pitchFamily="34" charset="0"/>
                <a:ea typeface="Calibri" pitchFamily="34" charset="-122"/>
                <a:cs typeface="Calibri" pitchFamily="34" charset="-120"/>
              </a:rPr>
              <a:t>Manual grading by pathologists is time-consuming, subjective, and prone to inter-expert disagreement.</a:t>
            </a:r>
            <a:endParaRPr lang="en-US" sz="1150" dirty="0"/>
          </a:p>
          <a:p>
            <a:pPr marL="0" indent="0">
              <a:spcAft>
                <a:spcPts val="400"/>
              </a:spcAft>
              <a:buNone/>
            </a:pPr>
            <a:r>
              <a:rPr lang="en-US" sz="1150" dirty="0">
                <a:solidFill>
                  <a:srgbClr val="1C2B30"/>
                </a:solidFill>
                <a:latin typeface="Calibri" pitchFamily="34" charset="0"/>
                <a:ea typeface="Calibri" pitchFamily="34" charset="-122"/>
                <a:cs typeface="Calibri" pitchFamily="34" charset="-120"/>
              </a:rPr>
              <a:t>The KidneyAI dataset contains annotations from 3 independent experts — disagreements are frequent.</a:t>
            </a:r>
            <a:endParaRPr lang="en-US" sz="1150" dirty="0"/>
          </a:p>
          <a:p>
            <a:pPr marL="0" indent="0">
              <a:spcAft>
                <a:spcPts val="400"/>
              </a:spcAft>
              <a:buNone/>
            </a:pPr>
            <a:r>
              <a:rPr lang="en-US" sz="1150" dirty="0">
                <a:solidFill>
                  <a:srgbClr val="1C2B30"/>
                </a:solidFill>
                <a:latin typeface="Calibri" pitchFamily="34" charset="0"/>
                <a:ea typeface="Calibri" pitchFamily="34" charset="-122"/>
                <a:cs typeface="Calibri" pitchFamily="34" charset="-120"/>
              </a:rPr>
              <a:t>Automated, reliable, and scalable classification is essential for clinical decision support.</a:t>
            </a:r>
            <a:endParaRPr lang="en-US" sz="1150" dirty="0"/>
          </a:p>
        </p:txBody>
      </p:sp>
      <p:sp>
        <p:nvSpPr>
          <p:cNvPr id="8" name="Shape 6"/>
          <p:cNvSpPr/>
          <p:nvPr/>
        </p:nvSpPr>
        <p:spPr>
          <a:xfrm>
            <a:off x="4663440" y="868680"/>
            <a:ext cx="4206240" cy="196596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9" name="Shape 7"/>
          <p:cNvSpPr/>
          <p:nvPr/>
        </p:nvSpPr>
        <p:spPr>
          <a:xfrm>
            <a:off x="4663440" y="868680"/>
            <a:ext cx="64008" cy="1965960"/>
          </a:xfrm>
          <a:prstGeom prst="rect">
            <a:avLst/>
          </a:prstGeom>
          <a:solidFill>
            <a:srgbClr val="028090"/>
          </a:solidFill>
          <a:ln w="12700">
            <a:solidFill>
              <a:srgbClr val="028090"/>
            </a:solidFill>
            <a:prstDash val="solid"/>
          </a:ln>
        </p:spPr>
      </p:sp>
      <p:sp>
        <p:nvSpPr>
          <p:cNvPr id="10" name="Text 8"/>
          <p:cNvSpPr/>
          <p:nvPr/>
        </p:nvSpPr>
        <p:spPr>
          <a:xfrm>
            <a:off x="4846320" y="914400"/>
            <a:ext cx="3840480" cy="347472"/>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Project Objectives</a:t>
            </a:r>
            <a:endParaRPr lang="en-US" sz="1300" dirty="0"/>
          </a:p>
        </p:txBody>
      </p:sp>
      <p:sp>
        <p:nvSpPr>
          <p:cNvPr id="11" name="Shape 9"/>
          <p:cNvSpPr/>
          <p:nvPr/>
        </p:nvSpPr>
        <p:spPr>
          <a:xfrm>
            <a:off x="4846320" y="1344168"/>
            <a:ext cx="118872" cy="118872"/>
          </a:xfrm>
          <a:prstGeom prst="ellipse">
            <a:avLst/>
          </a:prstGeom>
          <a:solidFill>
            <a:srgbClr val="028090"/>
          </a:solidFill>
          <a:ln w="12700">
            <a:solidFill>
              <a:srgbClr val="028090"/>
            </a:solidFill>
            <a:prstDash val="solid"/>
          </a:ln>
        </p:spPr>
      </p:sp>
      <p:sp>
        <p:nvSpPr>
          <p:cNvPr id="12" name="Text 10"/>
          <p:cNvSpPr/>
          <p:nvPr/>
        </p:nvSpPr>
        <p:spPr>
          <a:xfrm>
            <a:off x="5029200" y="1316736"/>
            <a:ext cx="3749040" cy="274320"/>
          </a:xfrm>
          <a:prstGeom prst="rect">
            <a:avLst/>
          </a:prstGeom>
          <a:noFill/>
          <a:ln/>
        </p:spPr>
        <p:txBody>
          <a:bodyPr wrap="square" rtlCol="0" anchor="ctr"/>
          <a:lstStyle/>
          <a:p>
            <a:pPr marL="0" indent="0">
              <a:buNone/>
            </a:pPr>
            <a:r>
              <a:rPr lang="en-US" sz="1050" dirty="0">
                <a:solidFill>
                  <a:srgbClr val="1C2B30"/>
                </a:solidFill>
                <a:latin typeface="Calibri" pitchFamily="34" charset="0"/>
                <a:ea typeface="Calibri" pitchFamily="34" charset="-122"/>
                <a:cs typeface="Calibri" pitchFamily="34" charset="-120"/>
              </a:rPr>
              <a:t>Merge and validate annotations from 3 expert pathologists using majority voting</a:t>
            </a:r>
            <a:endParaRPr lang="en-US" sz="1050" dirty="0"/>
          </a:p>
        </p:txBody>
      </p:sp>
      <p:sp>
        <p:nvSpPr>
          <p:cNvPr id="13" name="Shape 11"/>
          <p:cNvSpPr/>
          <p:nvPr/>
        </p:nvSpPr>
        <p:spPr>
          <a:xfrm>
            <a:off x="4846320" y="1645920"/>
            <a:ext cx="118872" cy="118872"/>
          </a:xfrm>
          <a:prstGeom prst="ellipse">
            <a:avLst/>
          </a:prstGeom>
          <a:solidFill>
            <a:srgbClr val="028090"/>
          </a:solidFill>
          <a:ln w="12700">
            <a:solidFill>
              <a:srgbClr val="028090"/>
            </a:solidFill>
            <a:prstDash val="solid"/>
          </a:ln>
        </p:spPr>
      </p:sp>
      <p:sp>
        <p:nvSpPr>
          <p:cNvPr id="14" name="Text 12"/>
          <p:cNvSpPr/>
          <p:nvPr/>
        </p:nvSpPr>
        <p:spPr>
          <a:xfrm>
            <a:off x="5029200" y="1618488"/>
            <a:ext cx="3749040" cy="274320"/>
          </a:xfrm>
          <a:prstGeom prst="rect">
            <a:avLst/>
          </a:prstGeom>
          <a:noFill/>
          <a:ln/>
        </p:spPr>
        <p:txBody>
          <a:bodyPr wrap="square" rtlCol="0" anchor="ctr"/>
          <a:lstStyle/>
          <a:p>
            <a:pPr marL="0" indent="0">
              <a:buNone/>
            </a:pPr>
            <a:r>
              <a:rPr lang="en-US" sz="1050" dirty="0">
                <a:solidFill>
                  <a:srgbClr val="1C2B30"/>
                </a:solidFill>
                <a:latin typeface="Calibri" pitchFamily="34" charset="0"/>
                <a:ea typeface="Calibri" pitchFamily="34" charset="-122"/>
                <a:cs typeface="Calibri" pitchFamily="34" charset="-120"/>
              </a:rPr>
              <a:t>Build a robust data pipeline with slide-wise splitting to prevent data leakage</a:t>
            </a:r>
            <a:endParaRPr lang="en-US" sz="1050" dirty="0"/>
          </a:p>
        </p:txBody>
      </p:sp>
      <p:sp>
        <p:nvSpPr>
          <p:cNvPr id="15" name="Shape 13"/>
          <p:cNvSpPr/>
          <p:nvPr/>
        </p:nvSpPr>
        <p:spPr>
          <a:xfrm>
            <a:off x="4846320" y="1947672"/>
            <a:ext cx="118872" cy="118872"/>
          </a:xfrm>
          <a:prstGeom prst="ellipse">
            <a:avLst/>
          </a:prstGeom>
          <a:solidFill>
            <a:srgbClr val="028090"/>
          </a:solidFill>
          <a:ln w="12700">
            <a:solidFill>
              <a:srgbClr val="028090"/>
            </a:solidFill>
            <a:prstDash val="solid"/>
          </a:ln>
        </p:spPr>
      </p:sp>
      <p:sp>
        <p:nvSpPr>
          <p:cNvPr id="16" name="Text 14"/>
          <p:cNvSpPr/>
          <p:nvPr/>
        </p:nvSpPr>
        <p:spPr>
          <a:xfrm>
            <a:off x="5029200" y="1920240"/>
            <a:ext cx="3749040" cy="274320"/>
          </a:xfrm>
          <a:prstGeom prst="rect">
            <a:avLst/>
          </a:prstGeom>
          <a:noFill/>
          <a:ln/>
        </p:spPr>
        <p:txBody>
          <a:bodyPr wrap="square" rtlCol="0" anchor="ctr"/>
          <a:lstStyle/>
          <a:p>
            <a:pPr marL="0" indent="0">
              <a:buNone/>
            </a:pPr>
            <a:r>
              <a:rPr lang="en-US" sz="1050" dirty="0">
                <a:solidFill>
                  <a:srgbClr val="1C2B30"/>
                </a:solidFill>
                <a:latin typeface="Calibri" pitchFamily="34" charset="0"/>
                <a:ea typeface="Calibri" pitchFamily="34" charset="-122"/>
                <a:cs typeface="Calibri" pitchFamily="34" charset="-120"/>
              </a:rPr>
              <a:t>Train a Confidence Cascade system: EfficientNet-B3 (primary) + ViT-B16 (refiner)</a:t>
            </a:r>
            <a:endParaRPr lang="en-US" sz="1050" dirty="0"/>
          </a:p>
        </p:txBody>
      </p:sp>
      <p:sp>
        <p:nvSpPr>
          <p:cNvPr id="17" name="Shape 15"/>
          <p:cNvSpPr/>
          <p:nvPr/>
        </p:nvSpPr>
        <p:spPr>
          <a:xfrm>
            <a:off x="4846320" y="2249424"/>
            <a:ext cx="118872" cy="118872"/>
          </a:xfrm>
          <a:prstGeom prst="ellipse">
            <a:avLst/>
          </a:prstGeom>
          <a:solidFill>
            <a:srgbClr val="028090"/>
          </a:solidFill>
          <a:ln w="12700">
            <a:solidFill>
              <a:srgbClr val="028090"/>
            </a:solidFill>
            <a:prstDash val="solid"/>
          </a:ln>
        </p:spPr>
      </p:sp>
      <p:sp>
        <p:nvSpPr>
          <p:cNvPr id="18" name="Text 16"/>
          <p:cNvSpPr/>
          <p:nvPr/>
        </p:nvSpPr>
        <p:spPr>
          <a:xfrm>
            <a:off x="5029200" y="2221992"/>
            <a:ext cx="3749040" cy="274320"/>
          </a:xfrm>
          <a:prstGeom prst="rect">
            <a:avLst/>
          </a:prstGeom>
          <a:noFill/>
          <a:ln/>
        </p:spPr>
        <p:txBody>
          <a:bodyPr wrap="square" rtlCol="0" anchor="ctr"/>
          <a:lstStyle/>
          <a:p>
            <a:pPr marL="0" indent="0">
              <a:buNone/>
            </a:pPr>
            <a:r>
              <a:rPr lang="en-US" sz="1050" dirty="0">
                <a:solidFill>
                  <a:srgbClr val="1C2B30"/>
                </a:solidFill>
                <a:latin typeface="Calibri" pitchFamily="34" charset="0"/>
                <a:ea typeface="Calibri" pitchFamily="34" charset="-122"/>
                <a:cs typeface="Calibri" pitchFamily="34" charset="-120"/>
              </a:rPr>
              <a:t>Grade glomeruli into 4 severity levels: Normal, Mild, Moderate, and Severe</a:t>
            </a:r>
            <a:endParaRPr lang="en-US" sz="1050" dirty="0"/>
          </a:p>
        </p:txBody>
      </p:sp>
      <p:sp>
        <p:nvSpPr>
          <p:cNvPr id="19" name="Shape 17"/>
          <p:cNvSpPr/>
          <p:nvPr/>
        </p:nvSpPr>
        <p:spPr>
          <a:xfrm>
            <a:off x="4846320" y="2551176"/>
            <a:ext cx="118872" cy="118872"/>
          </a:xfrm>
          <a:prstGeom prst="ellipse">
            <a:avLst/>
          </a:prstGeom>
          <a:solidFill>
            <a:srgbClr val="028090"/>
          </a:solidFill>
          <a:ln w="12700">
            <a:solidFill>
              <a:srgbClr val="028090"/>
            </a:solidFill>
            <a:prstDash val="solid"/>
          </a:ln>
        </p:spPr>
      </p:sp>
      <p:sp>
        <p:nvSpPr>
          <p:cNvPr id="20" name="Text 18"/>
          <p:cNvSpPr/>
          <p:nvPr/>
        </p:nvSpPr>
        <p:spPr>
          <a:xfrm>
            <a:off x="5029200" y="2523744"/>
            <a:ext cx="3749040" cy="274320"/>
          </a:xfrm>
          <a:prstGeom prst="rect">
            <a:avLst/>
          </a:prstGeom>
          <a:noFill/>
          <a:ln/>
        </p:spPr>
        <p:txBody>
          <a:bodyPr wrap="square" rtlCol="0" anchor="ctr"/>
          <a:lstStyle/>
          <a:p>
            <a:pPr marL="0" indent="0">
              <a:buNone/>
            </a:pPr>
            <a:r>
              <a:rPr lang="en-US" sz="1050" dirty="0">
                <a:solidFill>
                  <a:srgbClr val="1C2B30"/>
                </a:solidFill>
                <a:latin typeface="Calibri" pitchFamily="34" charset="0"/>
                <a:ea typeface="Calibri" pitchFamily="34" charset="-122"/>
                <a:cs typeface="Calibri" pitchFamily="34" charset="-120"/>
              </a:rPr>
              <a:t>Evaluate performance with classification report, confusion matrix, and AUC-ROC</a:t>
            </a:r>
            <a:endParaRPr lang="en-US" sz="1050" dirty="0"/>
          </a:p>
        </p:txBody>
      </p:sp>
      <p:sp>
        <p:nvSpPr>
          <p:cNvPr id="21" name="Shape 19"/>
          <p:cNvSpPr/>
          <p:nvPr/>
        </p:nvSpPr>
        <p:spPr>
          <a:xfrm>
            <a:off x="274320" y="2944368"/>
            <a:ext cx="8595360" cy="256032"/>
          </a:xfrm>
          <a:prstGeom prst="rect">
            <a:avLst/>
          </a:prstGeom>
          <a:solidFill>
            <a:srgbClr val="D4F1EB"/>
          </a:solidFill>
          <a:ln w="12700">
            <a:solidFill>
              <a:srgbClr val="C5E8E4"/>
            </a:solidFill>
            <a:prstDash val="solid"/>
          </a:ln>
        </p:spPr>
      </p:sp>
      <p:sp>
        <p:nvSpPr>
          <p:cNvPr id="22" name="Text 20"/>
          <p:cNvSpPr/>
          <p:nvPr/>
        </p:nvSpPr>
        <p:spPr>
          <a:xfrm>
            <a:off x="411480" y="2944368"/>
            <a:ext cx="1371600" cy="256032"/>
          </a:xfrm>
          <a:prstGeom prst="rect">
            <a:avLst/>
          </a:prstGeom>
          <a:noFill/>
          <a:ln/>
        </p:spPr>
        <p:txBody>
          <a:bodyPr wrap="square" lIns="0" tIns="0" rIns="0" bIns="0"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Severity Classes:</a:t>
            </a:r>
            <a:endParaRPr lang="en-US" sz="1000" dirty="0"/>
          </a:p>
        </p:txBody>
      </p:sp>
      <p:sp>
        <p:nvSpPr>
          <p:cNvPr id="23" name="Shape 21"/>
          <p:cNvSpPr/>
          <p:nvPr/>
        </p:nvSpPr>
        <p:spPr>
          <a:xfrm>
            <a:off x="1828800" y="3008376"/>
            <a:ext cx="118872" cy="118872"/>
          </a:xfrm>
          <a:prstGeom prst="ellipse">
            <a:avLst/>
          </a:prstGeom>
          <a:solidFill>
            <a:srgbClr val="2D9E5F"/>
          </a:solidFill>
          <a:ln w="12700">
            <a:solidFill>
              <a:srgbClr val="2D9E5F"/>
            </a:solidFill>
            <a:prstDash val="solid"/>
          </a:ln>
        </p:spPr>
      </p:sp>
      <p:sp>
        <p:nvSpPr>
          <p:cNvPr id="24" name="Text 22"/>
          <p:cNvSpPr/>
          <p:nvPr/>
        </p:nvSpPr>
        <p:spPr>
          <a:xfrm>
            <a:off x="1975104" y="2944368"/>
            <a:ext cx="1600200" cy="256032"/>
          </a:xfrm>
          <a:prstGeom prst="rect">
            <a:avLst/>
          </a:prstGeom>
          <a:noFill/>
          <a:ln/>
        </p:spPr>
        <p:txBody>
          <a:bodyPr wrap="square" lIns="0" tIns="0" rIns="0" bIns="0" rtlCol="0" anchor="ctr"/>
          <a:lstStyle/>
          <a:p>
            <a:pPr marL="0" indent="0">
              <a:buNone/>
            </a:pPr>
            <a:r>
              <a:rPr lang="en-US" sz="1000" b="1" dirty="0">
                <a:solidFill>
                  <a:srgbClr val="2D9E5F"/>
                </a:solidFill>
                <a:latin typeface="Calibri" pitchFamily="34" charset="0"/>
                <a:ea typeface="Calibri" pitchFamily="34" charset="-122"/>
                <a:cs typeface="Calibri" pitchFamily="34" charset="-120"/>
              </a:rPr>
              <a:t>Class 0 — Normal</a:t>
            </a:r>
            <a:endParaRPr lang="en-US" sz="1000" dirty="0"/>
          </a:p>
        </p:txBody>
      </p:sp>
      <p:sp>
        <p:nvSpPr>
          <p:cNvPr id="25" name="Shape 23"/>
          <p:cNvSpPr/>
          <p:nvPr/>
        </p:nvSpPr>
        <p:spPr>
          <a:xfrm>
            <a:off x="3566160" y="3008376"/>
            <a:ext cx="118872" cy="118872"/>
          </a:xfrm>
          <a:prstGeom prst="ellipse">
            <a:avLst/>
          </a:prstGeom>
          <a:solidFill>
            <a:srgbClr val="E8A838"/>
          </a:solidFill>
          <a:ln w="12700">
            <a:solidFill>
              <a:srgbClr val="E8A838"/>
            </a:solidFill>
            <a:prstDash val="solid"/>
          </a:ln>
        </p:spPr>
      </p:sp>
      <p:sp>
        <p:nvSpPr>
          <p:cNvPr id="26" name="Text 24"/>
          <p:cNvSpPr/>
          <p:nvPr/>
        </p:nvSpPr>
        <p:spPr>
          <a:xfrm>
            <a:off x="3712464" y="2944368"/>
            <a:ext cx="1600200" cy="256032"/>
          </a:xfrm>
          <a:prstGeom prst="rect">
            <a:avLst/>
          </a:prstGeom>
          <a:noFill/>
          <a:ln/>
        </p:spPr>
        <p:txBody>
          <a:bodyPr wrap="square" lIns="0" tIns="0" rIns="0" bIns="0" rtlCol="0" anchor="ctr"/>
          <a:lstStyle/>
          <a:p>
            <a:pPr marL="0" indent="0">
              <a:buNone/>
            </a:pPr>
            <a:r>
              <a:rPr lang="en-US" sz="1000" b="1" dirty="0">
                <a:solidFill>
                  <a:srgbClr val="E8A838"/>
                </a:solidFill>
                <a:latin typeface="Calibri" pitchFamily="34" charset="0"/>
                <a:ea typeface="Calibri" pitchFamily="34" charset="-122"/>
                <a:cs typeface="Calibri" pitchFamily="34" charset="-120"/>
              </a:rPr>
              <a:t>Class 1 — Mild</a:t>
            </a:r>
            <a:endParaRPr lang="en-US" sz="1000" dirty="0"/>
          </a:p>
        </p:txBody>
      </p:sp>
      <p:sp>
        <p:nvSpPr>
          <p:cNvPr id="27" name="Shape 25"/>
          <p:cNvSpPr/>
          <p:nvPr/>
        </p:nvSpPr>
        <p:spPr>
          <a:xfrm>
            <a:off x="5303520" y="3008376"/>
            <a:ext cx="118872" cy="118872"/>
          </a:xfrm>
          <a:prstGeom prst="ellipse">
            <a:avLst/>
          </a:prstGeom>
          <a:solidFill>
            <a:srgbClr val="E06B2A"/>
          </a:solidFill>
          <a:ln w="12700">
            <a:solidFill>
              <a:srgbClr val="E06B2A"/>
            </a:solidFill>
            <a:prstDash val="solid"/>
          </a:ln>
        </p:spPr>
      </p:sp>
      <p:sp>
        <p:nvSpPr>
          <p:cNvPr id="28" name="Text 26"/>
          <p:cNvSpPr/>
          <p:nvPr/>
        </p:nvSpPr>
        <p:spPr>
          <a:xfrm>
            <a:off x="5449824" y="2944368"/>
            <a:ext cx="1600200" cy="256032"/>
          </a:xfrm>
          <a:prstGeom prst="rect">
            <a:avLst/>
          </a:prstGeom>
          <a:noFill/>
          <a:ln/>
        </p:spPr>
        <p:txBody>
          <a:bodyPr wrap="square" lIns="0" tIns="0" rIns="0" bIns="0" rtlCol="0" anchor="ctr"/>
          <a:lstStyle/>
          <a:p>
            <a:pPr marL="0" indent="0">
              <a:buNone/>
            </a:pPr>
            <a:r>
              <a:rPr lang="en-US" sz="1000" b="1" dirty="0">
                <a:solidFill>
                  <a:srgbClr val="E06B2A"/>
                </a:solidFill>
                <a:latin typeface="Calibri" pitchFamily="34" charset="0"/>
                <a:ea typeface="Calibri" pitchFamily="34" charset="-122"/>
                <a:cs typeface="Calibri" pitchFamily="34" charset="-120"/>
              </a:rPr>
              <a:t>Class 2 — Moderate</a:t>
            </a:r>
            <a:endParaRPr lang="en-US" sz="1000" dirty="0"/>
          </a:p>
        </p:txBody>
      </p:sp>
      <p:sp>
        <p:nvSpPr>
          <p:cNvPr id="29" name="Shape 27"/>
          <p:cNvSpPr/>
          <p:nvPr/>
        </p:nvSpPr>
        <p:spPr>
          <a:xfrm>
            <a:off x="7040880" y="3008376"/>
            <a:ext cx="118872" cy="118872"/>
          </a:xfrm>
          <a:prstGeom prst="ellipse">
            <a:avLst/>
          </a:prstGeom>
          <a:solidFill>
            <a:srgbClr val="C0392B"/>
          </a:solidFill>
          <a:ln w="12700">
            <a:solidFill>
              <a:srgbClr val="C0392B"/>
            </a:solidFill>
            <a:prstDash val="solid"/>
          </a:ln>
        </p:spPr>
      </p:sp>
      <p:sp>
        <p:nvSpPr>
          <p:cNvPr id="30" name="Text 28"/>
          <p:cNvSpPr/>
          <p:nvPr/>
        </p:nvSpPr>
        <p:spPr>
          <a:xfrm>
            <a:off x="7187184" y="2944368"/>
            <a:ext cx="1600200" cy="256032"/>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Class 3 — Severe</a:t>
            </a:r>
            <a:endParaRPr lang="en-US" sz="1000" dirty="0"/>
          </a:p>
        </p:txBody>
      </p:sp>
      <p:sp>
        <p:nvSpPr>
          <p:cNvPr id="31" name="Shape 29"/>
          <p:cNvSpPr/>
          <p:nvPr/>
        </p:nvSpPr>
        <p:spPr>
          <a:xfrm>
            <a:off x="274320" y="3319272"/>
            <a:ext cx="8595360" cy="1481328"/>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32" name="Text 30"/>
          <p:cNvSpPr/>
          <p:nvPr/>
        </p:nvSpPr>
        <p:spPr>
          <a:xfrm>
            <a:off x="457200" y="3364992"/>
            <a:ext cx="8229600" cy="320040"/>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Dataset Overview</a:t>
            </a:r>
            <a:endParaRPr lang="en-US" sz="1200" dirty="0"/>
          </a:p>
        </p:txBody>
      </p:sp>
      <p:sp>
        <p:nvSpPr>
          <p:cNvPr id="33" name="Text 31"/>
          <p:cNvSpPr/>
          <p:nvPr/>
        </p:nvSpPr>
        <p:spPr>
          <a:xfrm>
            <a:off x="457200" y="3712464"/>
            <a:ext cx="8229600" cy="1005840"/>
          </a:xfrm>
          <a:prstGeom prst="rect">
            <a:avLst/>
          </a:prstGeom>
          <a:noFill/>
          <a:ln/>
        </p:spPr>
        <p:txBody>
          <a:bodyPr wrap="square" rtlCol="0" anchor="ctr"/>
          <a:lstStyle/>
          <a:p>
            <a:pPr marL="0" indent="0">
              <a:spcAft>
                <a:spcPts val="300"/>
              </a:spcAft>
              <a:buNone/>
            </a:pPr>
            <a:r>
              <a:rPr lang="en-US" sz="1100" b="1" dirty="0">
                <a:solidFill>
                  <a:srgbClr val="1C2B30"/>
                </a:solidFill>
                <a:latin typeface="Calibri" pitchFamily="34" charset="0"/>
                <a:ea typeface="Calibri" pitchFamily="34" charset="-122"/>
                <a:cs typeface="Calibri" pitchFamily="34" charset="-120"/>
              </a:rPr>
              <a:t>Source: </a:t>
            </a:r>
            <a:r>
              <a:rPr lang="en-US" sz="1100" dirty="0">
                <a:solidFill>
                  <a:srgbClr val="1C2B30"/>
                </a:solidFill>
                <a:latin typeface="Calibri" pitchFamily="34" charset="0"/>
                <a:ea typeface="Calibri" pitchFamily="34" charset="-122"/>
                <a:cs typeface="Calibri" pitchFamily="34" charset="-120"/>
              </a:rPr>
              <a:t>KidneyAI-Dataset — glomeruli patch images from kidney biopsy slides (PNG format, 224×224 px).</a:t>
            </a:r>
            <a:endParaRPr lang="en-US" sz="1100" dirty="0"/>
          </a:p>
          <a:p>
            <a:pPr marL="0" indent="0">
              <a:spcAft>
                <a:spcPts val="300"/>
              </a:spcAft>
              <a:buNone/>
            </a:pPr>
            <a:r>
              <a:rPr lang="en-US" sz="1100" b="1" dirty="0">
                <a:solidFill>
                  <a:srgbClr val="1C2B30"/>
                </a:solidFill>
                <a:latin typeface="Calibri" pitchFamily="34" charset="0"/>
                <a:ea typeface="Calibri" pitchFamily="34" charset="-122"/>
                <a:cs typeface="Calibri" pitchFamily="34" charset="-120"/>
              </a:rPr>
              <a:t>Annotation: </a:t>
            </a:r>
            <a:r>
              <a:rPr lang="en-US" sz="1100" dirty="0">
                <a:solidFill>
                  <a:srgbClr val="1C2B30"/>
                </a:solidFill>
                <a:latin typeface="Calibri" pitchFamily="34" charset="0"/>
                <a:ea typeface="Calibri" pitchFamily="34" charset="-122"/>
                <a:cs typeface="Calibri" pitchFamily="34" charset="-120"/>
              </a:rPr>
              <a:t>3 independent expert pathologists (Expert 1, 2, 3) each labelled every image as Normal, Mild, Moderate, Severe, or Excluded.</a:t>
            </a:r>
            <a:endParaRPr lang="en-US" sz="1100" dirty="0"/>
          </a:p>
          <a:p>
            <a:pPr marL="0" indent="0">
              <a:spcAft>
                <a:spcPts val="300"/>
              </a:spcAft>
              <a:buNone/>
            </a:pPr>
            <a:r>
              <a:rPr lang="en-US" sz="1100" b="1" dirty="0">
                <a:solidFill>
                  <a:srgbClr val="1C2B30"/>
                </a:solidFill>
                <a:latin typeface="Calibri" pitchFamily="34" charset="0"/>
                <a:ea typeface="Calibri" pitchFamily="34" charset="-122"/>
                <a:cs typeface="Calibri" pitchFamily="34" charset="-120"/>
              </a:rPr>
              <a:t>Structure: </a:t>
            </a:r>
            <a:r>
              <a:rPr lang="en-US" sz="1100" dirty="0">
                <a:solidFill>
                  <a:srgbClr val="1C2B30"/>
                </a:solidFill>
                <a:latin typeface="Calibri" pitchFamily="34" charset="0"/>
                <a:ea typeface="Calibri" pitchFamily="34" charset="-122"/>
                <a:cs typeface="Calibri" pitchFamily="34" charset="-120"/>
              </a:rPr>
              <a:t>Images are organized per biopsy slide (slide_01 … slide_25). Each slide directory contains hundreds of patch images.</a:t>
            </a:r>
            <a:endParaRPr lang="en-US" sz="1100" dirty="0"/>
          </a:p>
          <a:p>
            <a:pPr marL="0" indent="0">
              <a:spcAft>
                <a:spcPts val="300"/>
              </a:spcAft>
              <a:buNone/>
            </a:pPr>
            <a:r>
              <a:rPr lang="en-US" sz="1100" b="1" dirty="0">
                <a:solidFill>
                  <a:srgbClr val="1C2B30"/>
                </a:solidFill>
                <a:latin typeface="Calibri" pitchFamily="34" charset="0"/>
                <a:ea typeface="Calibri" pitchFamily="34" charset="-122"/>
                <a:cs typeface="Calibri" pitchFamily="34" charset="-120"/>
              </a:rPr>
              <a:t>Final Dataset: </a:t>
            </a:r>
            <a:r>
              <a:rPr lang="en-US" sz="1100" dirty="0">
                <a:solidFill>
                  <a:srgbClr val="1C2B30"/>
                </a:solidFill>
                <a:latin typeface="Calibri" pitchFamily="34" charset="0"/>
                <a:ea typeface="Calibri" pitchFamily="34" charset="-122"/>
                <a:cs typeface="Calibri" pitchFamily="34" charset="-120"/>
              </a:rPr>
              <a:t>2,305 clean, majority-voted samples exported to kidney_dataset.json, ready for model training.</a:t>
            </a:r>
            <a:endParaRPr lang="en-US" sz="1100" dirty="0"/>
          </a:p>
        </p:txBody>
      </p:sp>
      <p:sp>
        <p:nvSpPr>
          <p:cNvPr id="34" name="Shape 32"/>
          <p:cNvSpPr/>
          <p:nvPr/>
        </p:nvSpPr>
        <p:spPr>
          <a:xfrm>
            <a:off x="0" y="4983480"/>
            <a:ext cx="9144000" cy="160020"/>
          </a:xfrm>
          <a:prstGeom prst="rect">
            <a:avLst/>
          </a:prstGeom>
          <a:solidFill>
            <a:srgbClr val="D4F1EB"/>
          </a:solidFill>
          <a:ln w="12700">
            <a:solidFill>
              <a:srgbClr val="D4F1EB"/>
            </a:solidFill>
            <a:prstDash val="solid"/>
          </a:ln>
        </p:spPr>
      </p:sp>
      <p:sp>
        <p:nvSpPr>
          <p:cNvPr id="35" name="Text 33"/>
          <p:cNvSpPr/>
          <p:nvPr/>
        </p:nvSpPr>
        <p:spPr>
          <a:xfrm>
            <a:off x="274320" y="4983480"/>
            <a:ext cx="8595360" cy="160020"/>
          </a:xfrm>
          <a:prstGeom prst="rect">
            <a:avLst/>
          </a:prstGeom>
          <a:noFill/>
          <a:ln/>
        </p:spPr>
        <p:txBody>
          <a:bodyPr wrap="square" lIns="0" tIns="0" rIns="0" bIns="0" rtlCol="0" anchor="ctr"/>
          <a:lstStyle/>
          <a:p>
            <a:pPr marL="0" indent="0">
              <a:buNone/>
            </a:pP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Data Preprocessing Pipeline</a:t>
            </a:r>
            <a:endParaRPr lang="en-US" sz="1700" dirty="0"/>
          </a:p>
        </p:txBody>
      </p:sp>
      <p:sp>
        <p:nvSpPr>
          <p:cNvPr id="4" name="Text 2"/>
          <p:cNvSpPr/>
          <p:nvPr/>
        </p:nvSpPr>
        <p:spPr>
          <a:xfrm>
            <a:off x="320040" y="521208"/>
            <a:ext cx="8503920" cy="274320"/>
          </a:xfrm>
          <a:prstGeom prst="rect">
            <a:avLst/>
          </a:prstGeom>
          <a:noFill/>
          <a:ln/>
        </p:spPr>
        <p:txBody>
          <a:bodyPr wrap="square" rtlCol="0" anchor="ctr"/>
          <a:lstStyle/>
          <a:p>
            <a:pPr marL="0" indent="0">
              <a:buNone/>
            </a:pPr>
            <a:r>
              <a:rPr lang="en-US" sz="1000" i="1" dirty="0">
                <a:solidFill>
                  <a:srgbClr val="4A6B72"/>
                </a:solidFill>
                <a:latin typeface="Calibri" pitchFamily="34" charset="0"/>
                <a:ea typeface="Calibri" pitchFamily="34" charset="-122"/>
                <a:cs typeface="Calibri" pitchFamily="34" charset="-120"/>
              </a:rPr>
              <a:t>From raw pickle files to a clean, model-ready JSON dataset</a:t>
            </a:r>
            <a:endParaRPr lang="en-US" sz="1000" dirty="0"/>
          </a:p>
        </p:txBody>
      </p:sp>
      <p:sp>
        <p:nvSpPr>
          <p:cNvPr id="5" name="Shape 3"/>
          <p:cNvSpPr/>
          <p:nvPr/>
        </p:nvSpPr>
        <p:spPr>
          <a:xfrm>
            <a:off x="228600" y="640080"/>
            <a:ext cx="8686800" cy="713232"/>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6" name="Shape 4"/>
          <p:cNvSpPr/>
          <p:nvPr/>
        </p:nvSpPr>
        <p:spPr>
          <a:xfrm>
            <a:off x="228600" y="640080"/>
            <a:ext cx="502920" cy="713232"/>
          </a:xfrm>
          <a:prstGeom prst="rect">
            <a:avLst/>
          </a:prstGeom>
          <a:solidFill>
            <a:srgbClr val="028090"/>
          </a:solidFill>
          <a:ln w="12700">
            <a:solidFill>
              <a:srgbClr val="028090"/>
            </a:solidFill>
            <a:prstDash val="solid"/>
          </a:ln>
        </p:spPr>
      </p:sp>
      <p:sp>
        <p:nvSpPr>
          <p:cNvPr id="7" name="Text 5"/>
          <p:cNvSpPr/>
          <p:nvPr/>
        </p:nvSpPr>
        <p:spPr>
          <a:xfrm>
            <a:off x="228600" y="640080"/>
            <a:ext cx="5029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804672" y="676656"/>
            <a:ext cx="2468880" cy="301752"/>
          </a:xfrm>
          <a:prstGeom prst="rect">
            <a:avLst/>
          </a:prstGeom>
          <a:noFill/>
          <a:ln/>
        </p:spPr>
        <p:txBody>
          <a:bodyPr wrap="square" rtlCol="0" anchor="ctr"/>
          <a:lstStyle/>
          <a:p>
            <a:pPr marL="0" indent="0">
              <a:buNone/>
            </a:pPr>
            <a:r>
              <a:rPr lang="en-US" sz="1150" b="1" dirty="0">
                <a:solidFill>
                  <a:srgbClr val="015F6B"/>
                </a:solidFill>
                <a:latin typeface="Calibri" pitchFamily="34" charset="0"/>
                <a:ea typeface="Calibri" pitchFamily="34" charset="-122"/>
                <a:cs typeface="Calibri" pitchFamily="34" charset="-120"/>
              </a:rPr>
              <a:t>Load Expert Pickle Files</a:t>
            </a:r>
            <a:endParaRPr lang="en-US" sz="1150" dirty="0"/>
          </a:p>
        </p:txBody>
      </p:sp>
      <p:sp>
        <p:nvSpPr>
          <p:cNvPr id="9" name="Text 7"/>
          <p:cNvSpPr/>
          <p:nvPr/>
        </p:nvSpPr>
        <p:spPr>
          <a:xfrm>
            <a:off x="804672" y="978408"/>
            <a:ext cx="7955280" cy="329184"/>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Three pickle files (expert1, expert2, expert3) are loaded, each containing image paths and labels assigned independently by each radiologist. DataFrames are created for each expert.</a:t>
            </a:r>
            <a:endParaRPr lang="en-US" sz="950" dirty="0"/>
          </a:p>
        </p:txBody>
      </p:sp>
      <p:sp>
        <p:nvSpPr>
          <p:cNvPr id="10" name="Shape 8"/>
          <p:cNvSpPr/>
          <p:nvPr/>
        </p:nvSpPr>
        <p:spPr>
          <a:xfrm>
            <a:off x="228600" y="1444752"/>
            <a:ext cx="8686800" cy="713232"/>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11" name="Shape 9"/>
          <p:cNvSpPr/>
          <p:nvPr/>
        </p:nvSpPr>
        <p:spPr>
          <a:xfrm>
            <a:off x="228600" y="1444752"/>
            <a:ext cx="502920" cy="713232"/>
          </a:xfrm>
          <a:prstGeom prst="rect">
            <a:avLst/>
          </a:prstGeom>
          <a:solidFill>
            <a:srgbClr val="02A886"/>
          </a:solidFill>
          <a:ln w="12700">
            <a:solidFill>
              <a:srgbClr val="02A886"/>
            </a:solidFill>
            <a:prstDash val="solid"/>
          </a:ln>
        </p:spPr>
      </p:sp>
      <p:sp>
        <p:nvSpPr>
          <p:cNvPr id="12" name="Text 10"/>
          <p:cNvSpPr/>
          <p:nvPr/>
        </p:nvSpPr>
        <p:spPr>
          <a:xfrm>
            <a:off x="228600" y="1444752"/>
            <a:ext cx="5029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804672" y="1481328"/>
            <a:ext cx="2468880" cy="301752"/>
          </a:xfrm>
          <a:prstGeom prst="rect">
            <a:avLst/>
          </a:prstGeom>
          <a:noFill/>
          <a:ln/>
        </p:spPr>
        <p:txBody>
          <a:bodyPr wrap="square" rtlCol="0" anchor="ctr"/>
          <a:lstStyle/>
          <a:p>
            <a:pPr marL="0" indent="0">
              <a:buNone/>
            </a:pPr>
            <a:r>
              <a:rPr lang="en-US" sz="1150" b="1" dirty="0">
                <a:solidFill>
                  <a:srgbClr val="015F6B"/>
                </a:solidFill>
                <a:latin typeface="Calibri" pitchFamily="34" charset="0"/>
                <a:ea typeface="Calibri" pitchFamily="34" charset="-122"/>
                <a:cs typeface="Calibri" pitchFamily="34" charset="-120"/>
              </a:rPr>
              <a:t>Merge &amp; Clean</a:t>
            </a:r>
            <a:endParaRPr lang="en-US" sz="1150" dirty="0"/>
          </a:p>
        </p:txBody>
      </p:sp>
      <p:sp>
        <p:nvSpPr>
          <p:cNvPr id="14" name="Text 12"/>
          <p:cNvSpPr/>
          <p:nvPr/>
        </p:nvSpPr>
        <p:spPr>
          <a:xfrm>
            <a:off x="804672" y="1783080"/>
            <a:ext cx="7955280" cy="329184"/>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All three expert DataFrames are merged on slide ID and image index. Rows marked as 'Excluded' by any expert are removed. This reduces noise and ensures label reliability across annotators.</a:t>
            </a:r>
            <a:endParaRPr lang="en-US" sz="950" dirty="0"/>
          </a:p>
        </p:txBody>
      </p:sp>
      <p:sp>
        <p:nvSpPr>
          <p:cNvPr id="15" name="Shape 13"/>
          <p:cNvSpPr/>
          <p:nvPr/>
        </p:nvSpPr>
        <p:spPr>
          <a:xfrm>
            <a:off x="228600" y="2249424"/>
            <a:ext cx="8686800" cy="713232"/>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16" name="Shape 14"/>
          <p:cNvSpPr/>
          <p:nvPr/>
        </p:nvSpPr>
        <p:spPr>
          <a:xfrm>
            <a:off x="228600" y="2249424"/>
            <a:ext cx="502920" cy="713232"/>
          </a:xfrm>
          <a:prstGeom prst="rect">
            <a:avLst/>
          </a:prstGeom>
          <a:solidFill>
            <a:srgbClr val="028090"/>
          </a:solidFill>
          <a:ln w="12700">
            <a:solidFill>
              <a:srgbClr val="028090"/>
            </a:solidFill>
            <a:prstDash val="solid"/>
          </a:ln>
        </p:spPr>
      </p:sp>
      <p:sp>
        <p:nvSpPr>
          <p:cNvPr id="17" name="Text 15"/>
          <p:cNvSpPr/>
          <p:nvPr/>
        </p:nvSpPr>
        <p:spPr>
          <a:xfrm>
            <a:off x="228600" y="2249424"/>
            <a:ext cx="5029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804672" y="2286000"/>
            <a:ext cx="2468880" cy="301752"/>
          </a:xfrm>
          <a:prstGeom prst="rect">
            <a:avLst/>
          </a:prstGeom>
          <a:noFill/>
          <a:ln/>
        </p:spPr>
        <p:txBody>
          <a:bodyPr wrap="square" rtlCol="0" anchor="ctr"/>
          <a:lstStyle/>
          <a:p>
            <a:pPr marL="0" indent="0">
              <a:buNone/>
            </a:pPr>
            <a:r>
              <a:rPr lang="en-US" sz="1150" b="1" dirty="0">
                <a:solidFill>
                  <a:srgbClr val="015F6B"/>
                </a:solidFill>
                <a:latin typeface="Calibri" pitchFamily="34" charset="0"/>
                <a:ea typeface="Calibri" pitchFamily="34" charset="-122"/>
                <a:cs typeface="Calibri" pitchFamily="34" charset="-120"/>
              </a:rPr>
              <a:t>Missing &amp; Corrupted Image Removal</a:t>
            </a:r>
            <a:endParaRPr lang="en-US" sz="1150" dirty="0"/>
          </a:p>
        </p:txBody>
      </p:sp>
      <p:sp>
        <p:nvSpPr>
          <p:cNvPr id="19" name="Text 17"/>
          <p:cNvSpPr/>
          <p:nvPr/>
        </p:nvSpPr>
        <p:spPr>
          <a:xfrm>
            <a:off x="804672" y="2587752"/>
            <a:ext cx="7955280" cy="329184"/>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Each image path is verified on disk. PIL's Image.verify() and Image.load() are used to detect corrupted files. All missing or corrupt images are dropped from the dataset before label assignment.</a:t>
            </a:r>
            <a:endParaRPr lang="en-US" sz="950" dirty="0"/>
          </a:p>
        </p:txBody>
      </p:sp>
      <p:sp>
        <p:nvSpPr>
          <p:cNvPr id="20" name="Shape 18"/>
          <p:cNvSpPr/>
          <p:nvPr/>
        </p:nvSpPr>
        <p:spPr>
          <a:xfrm>
            <a:off x="228600" y="3054096"/>
            <a:ext cx="8686800" cy="713232"/>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21" name="Shape 19"/>
          <p:cNvSpPr/>
          <p:nvPr/>
        </p:nvSpPr>
        <p:spPr>
          <a:xfrm>
            <a:off x="228600" y="3054096"/>
            <a:ext cx="502920" cy="713232"/>
          </a:xfrm>
          <a:prstGeom prst="rect">
            <a:avLst/>
          </a:prstGeom>
          <a:solidFill>
            <a:srgbClr val="02A886"/>
          </a:solidFill>
          <a:ln w="12700">
            <a:solidFill>
              <a:srgbClr val="02A886"/>
            </a:solidFill>
            <a:prstDash val="solid"/>
          </a:ln>
        </p:spPr>
      </p:sp>
      <p:sp>
        <p:nvSpPr>
          <p:cNvPr id="22" name="Text 20"/>
          <p:cNvSpPr/>
          <p:nvPr/>
        </p:nvSpPr>
        <p:spPr>
          <a:xfrm>
            <a:off x="228600" y="3054096"/>
            <a:ext cx="5029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3" name="Text 21"/>
          <p:cNvSpPr/>
          <p:nvPr/>
        </p:nvSpPr>
        <p:spPr>
          <a:xfrm>
            <a:off x="804672" y="3090672"/>
            <a:ext cx="2468880" cy="301752"/>
          </a:xfrm>
          <a:prstGeom prst="rect">
            <a:avLst/>
          </a:prstGeom>
          <a:noFill/>
          <a:ln/>
        </p:spPr>
        <p:txBody>
          <a:bodyPr wrap="square" rtlCol="0" anchor="ctr"/>
          <a:lstStyle/>
          <a:p>
            <a:pPr marL="0" indent="0">
              <a:buNone/>
            </a:pPr>
            <a:r>
              <a:rPr lang="en-US" sz="1150" b="1" dirty="0">
                <a:solidFill>
                  <a:srgbClr val="015F6B"/>
                </a:solidFill>
                <a:latin typeface="Calibri" pitchFamily="34" charset="0"/>
                <a:ea typeface="Calibri" pitchFamily="34" charset="-122"/>
                <a:cs typeface="Calibri" pitchFamily="34" charset="-120"/>
              </a:rPr>
              <a:t>Majority Voting for Final Labels</a:t>
            </a:r>
            <a:endParaRPr lang="en-US" sz="1150" dirty="0"/>
          </a:p>
        </p:txBody>
      </p:sp>
      <p:sp>
        <p:nvSpPr>
          <p:cNvPr id="24" name="Text 22"/>
          <p:cNvSpPr/>
          <p:nvPr/>
        </p:nvSpPr>
        <p:spPr>
          <a:xfrm>
            <a:off x="804672" y="3392424"/>
            <a:ext cx="7955280" cy="329184"/>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A majority voting function assigns the final label only when at least 2 out of 3 experts agree. Samples with full disagreement (no 2-of-3 consensus) are discarded, ensuring only high-confidence labels remain.</a:t>
            </a:r>
            <a:endParaRPr lang="en-US" sz="950" dirty="0"/>
          </a:p>
        </p:txBody>
      </p:sp>
      <p:sp>
        <p:nvSpPr>
          <p:cNvPr id="25" name="Shape 23"/>
          <p:cNvSpPr/>
          <p:nvPr/>
        </p:nvSpPr>
        <p:spPr>
          <a:xfrm>
            <a:off x="228600" y="3858768"/>
            <a:ext cx="8686800" cy="713232"/>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26" name="Shape 24"/>
          <p:cNvSpPr/>
          <p:nvPr/>
        </p:nvSpPr>
        <p:spPr>
          <a:xfrm>
            <a:off x="228600" y="3858768"/>
            <a:ext cx="502920" cy="713232"/>
          </a:xfrm>
          <a:prstGeom prst="rect">
            <a:avLst/>
          </a:prstGeom>
          <a:solidFill>
            <a:srgbClr val="028090"/>
          </a:solidFill>
          <a:ln w="12700">
            <a:solidFill>
              <a:srgbClr val="028090"/>
            </a:solidFill>
            <a:prstDash val="solid"/>
          </a:ln>
        </p:spPr>
      </p:sp>
      <p:sp>
        <p:nvSpPr>
          <p:cNvPr id="27" name="Text 25"/>
          <p:cNvSpPr/>
          <p:nvPr/>
        </p:nvSpPr>
        <p:spPr>
          <a:xfrm>
            <a:off x="228600" y="3858768"/>
            <a:ext cx="502920" cy="71323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8" name="Text 26"/>
          <p:cNvSpPr/>
          <p:nvPr/>
        </p:nvSpPr>
        <p:spPr>
          <a:xfrm>
            <a:off x="804672" y="3895344"/>
            <a:ext cx="2468880" cy="301752"/>
          </a:xfrm>
          <a:prstGeom prst="rect">
            <a:avLst/>
          </a:prstGeom>
          <a:noFill/>
          <a:ln/>
        </p:spPr>
        <p:txBody>
          <a:bodyPr wrap="square" rtlCol="0" anchor="ctr"/>
          <a:lstStyle/>
          <a:p>
            <a:pPr marL="0" indent="0">
              <a:buNone/>
            </a:pPr>
            <a:r>
              <a:rPr lang="en-US" sz="1150" b="1" dirty="0">
                <a:solidFill>
                  <a:srgbClr val="015F6B"/>
                </a:solidFill>
                <a:latin typeface="Calibri" pitchFamily="34" charset="0"/>
                <a:ea typeface="Calibri" pitchFamily="34" charset="-122"/>
                <a:cs typeface="Calibri" pitchFamily="34" charset="-120"/>
              </a:rPr>
              <a:t>Label Encoding &amp; JSON Export</a:t>
            </a:r>
            <a:endParaRPr lang="en-US" sz="1150" dirty="0"/>
          </a:p>
        </p:txBody>
      </p:sp>
      <p:sp>
        <p:nvSpPr>
          <p:cNvPr id="29" name="Text 27"/>
          <p:cNvSpPr/>
          <p:nvPr/>
        </p:nvSpPr>
        <p:spPr>
          <a:xfrm>
            <a:off x="804672" y="4197096"/>
            <a:ext cx="7955280" cy="329184"/>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String labels are mapped to integers: Normal→0, Mild→1, Moderate→2, Severe→3. The final dataframe (image_path, class) is exported to kidney_dataset.json for use by the training pipeline.</a:t>
            </a:r>
            <a:endParaRPr lang="en-US" sz="950" dirty="0"/>
          </a:p>
        </p:txBody>
      </p:sp>
      <p:sp>
        <p:nvSpPr>
          <p:cNvPr id="30" name="Shape 28"/>
          <p:cNvSpPr/>
          <p:nvPr/>
        </p:nvSpPr>
        <p:spPr>
          <a:xfrm>
            <a:off x="228600" y="4709160"/>
            <a:ext cx="8686800" cy="228600"/>
          </a:xfrm>
          <a:prstGeom prst="rect">
            <a:avLst/>
          </a:prstGeom>
          <a:solidFill>
            <a:srgbClr val="D4F1EB"/>
          </a:solidFill>
          <a:ln w="19050">
            <a:solidFill>
              <a:srgbClr val="02A886"/>
            </a:solidFill>
            <a:prstDash val="solid"/>
          </a:ln>
        </p:spPr>
      </p:sp>
      <p:sp>
        <p:nvSpPr>
          <p:cNvPr id="31" name="Text 29"/>
          <p:cNvSpPr/>
          <p:nvPr/>
        </p:nvSpPr>
        <p:spPr>
          <a:xfrm>
            <a:off x="320040" y="4709160"/>
            <a:ext cx="8503920" cy="228600"/>
          </a:xfrm>
          <a:prstGeom prst="rect">
            <a:avLst/>
          </a:prstGeom>
          <a:noFill/>
          <a:ln/>
        </p:spPr>
        <p:txBody>
          <a:bodyPr wrap="square" lIns="0" tIns="0" rIns="0" bIns="0" rtlCol="0" anchor="ctr"/>
          <a:lstStyle/>
          <a:p>
            <a:pPr marL="0" indent="0">
              <a:buNone/>
            </a:pPr>
            <a:r>
              <a:rPr lang="en-US" sz="950" b="1" dirty="0">
                <a:solidFill>
                  <a:srgbClr val="015F6B"/>
                </a:solidFill>
                <a:latin typeface="Calibri" pitchFamily="34" charset="0"/>
                <a:ea typeface="Calibri" pitchFamily="34" charset="-122"/>
                <a:cs typeface="Calibri" pitchFamily="34" charset="-120"/>
              </a:rPr>
              <a:t>Key Result: 2,717 merged images → 2,305 clean, reliable samples (412 removed due to exclusions, disagreement, or corruption)</a:t>
            </a:r>
            <a:endParaRPr lang="en-US" sz="950" dirty="0"/>
          </a:p>
        </p:txBody>
      </p:sp>
      <p:sp>
        <p:nvSpPr>
          <p:cNvPr id="32" name="Shape 30"/>
          <p:cNvSpPr/>
          <p:nvPr/>
        </p:nvSpPr>
        <p:spPr>
          <a:xfrm>
            <a:off x="0" y="4983480"/>
            <a:ext cx="9144000" cy="160020"/>
          </a:xfrm>
          <a:prstGeom prst="rect">
            <a:avLst/>
          </a:prstGeom>
          <a:solidFill>
            <a:srgbClr val="D4F1EB"/>
          </a:solidFill>
          <a:ln w="12700">
            <a:solidFill>
              <a:srgbClr val="D4F1EB"/>
            </a:solidFill>
            <a:prstDash val="solid"/>
          </a:ln>
        </p:spPr>
      </p:sp>
      <p:sp>
        <p:nvSpPr>
          <p:cNvPr id="33" name="Text 31"/>
          <p:cNvSpPr/>
          <p:nvPr/>
        </p:nvSpPr>
        <p:spPr>
          <a:xfrm>
            <a:off x="274320" y="4983480"/>
            <a:ext cx="8595360" cy="160020"/>
          </a:xfrm>
          <a:prstGeom prst="rect">
            <a:avLst/>
          </a:prstGeom>
          <a:noFill/>
          <a:ln/>
        </p:spPr>
        <p:txBody>
          <a:bodyPr wrap="square" lIns="0" tIns="0" rIns="0" bIns="0" rtlCol="0" anchor="ctr"/>
          <a:lstStyle/>
          <a:p>
            <a:pPr marL="0" indent="0">
              <a:buNone/>
            </a:pP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Key Dataset Observations</a:t>
            </a:r>
            <a:endParaRPr lang="en-US" sz="1700" dirty="0"/>
          </a:p>
        </p:txBody>
      </p:sp>
      <p:sp>
        <p:nvSpPr>
          <p:cNvPr id="4" name="Text 2"/>
          <p:cNvSpPr/>
          <p:nvPr/>
        </p:nvSpPr>
        <p:spPr>
          <a:xfrm>
            <a:off x="320040" y="521208"/>
            <a:ext cx="8503920" cy="274320"/>
          </a:xfrm>
          <a:prstGeom prst="rect">
            <a:avLst/>
          </a:prstGeom>
          <a:noFill/>
          <a:ln/>
        </p:spPr>
        <p:txBody>
          <a:bodyPr wrap="square" rtlCol="0" anchor="ctr"/>
          <a:lstStyle/>
          <a:p>
            <a:pPr marL="0" indent="0">
              <a:buNone/>
            </a:pPr>
            <a:r>
              <a:rPr lang="en-US" sz="1000" i="1" dirty="0">
                <a:solidFill>
                  <a:srgbClr val="4A6B72"/>
                </a:solidFill>
                <a:latin typeface="Calibri" pitchFamily="34" charset="0"/>
                <a:ea typeface="Calibri" pitchFamily="34" charset="-122"/>
                <a:cs typeface="Calibri" pitchFamily="34" charset="-120"/>
              </a:rPr>
              <a:t>Understanding the gap between raw folders and the cleaned JSON dataset</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658368"/>
          <a:ext cx="8595360" cy="1554480"/>
        </p:xfrm>
        <a:graphic>
          <a:graphicData uri="http://schemas.openxmlformats.org/drawingml/2006/table">
            <a:tbl>
              <a:tblPr/>
              <a:tblGrid>
                <a:gridCol w="12801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310896">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Slide</a:t>
                      </a:r>
                      <a:endParaRPr lang="en-US" sz="11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Folder Count</a:t>
                      </a:r>
                      <a:endParaRPr lang="en-US" sz="11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JSON Count</a:t>
                      </a:r>
                      <a:endParaRPr lang="en-US" sz="11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Drop %</a:t>
                      </a:r>
                      <a:endParaRPr lang="en-US" sz="11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Observation</a:t>
                      </a:r>
                      <a:endParaRPr lang="en-US" sz="11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310896">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slide_06</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127</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37</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C0392B"/>
                          </a:solidFill>
                          <a:latin typeface="Calibri" pitchFamily="34" charset="0"/>
                          <a:ea typeface="Calibri" pitchFamily="34" charset="-122"/>
                          <a:cs typeface="Calibri" pitchFamily="34" charset="-120"/>
                        </a:rPr>
                        <a:t>Huge drop — high disagreement</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slide_17</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232</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97</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E06B2A"/>
                          </a:solidFill>
                          <a:latin typeface="Calibri" pitchFamily="34" charset="0"/>
                          <a:ea typeface="Calibri" pitchFamily="34" charset="-122"/>
                          <a:cs typeface="Calibri" pitchFamily="34" charset="-120"/>
                        </a:rPr>
                        <a:t>Significant drop — poor consistency</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slide_01</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116</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69</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E8A838"/>
                          </a:solidFill>
                          <a:latin typeface="Calibri" pitchFamily="34" charset="0"/>
                          <a:ea typeface="Calibri" pitchFamily="34" charset="-122"/>
                          <a:cs typeface="Calibri" pitchFamily="34" charset="-120"/>
                        </a:rPr>
                        <a:t>Moderate drop — some exclusions</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slide_25</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163</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128</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1C2B30"/>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ctr">
                        <a:buNone/>
                      </a:pPr>
                      <a:r>
                        <a:rPr lang="en-US" sz="1050" dirty="0">
                          <a:solidFill>
                            <a:srgbClr val="2D9E5F"/>
                          </a:solidFill>
                          <a:latin typeface="Calibri" pitchFamily="34" charset="0"/>
                          <a:ea typeface="Calibri" pitchFamily="34" charset="-122"/>
                          <a:cs typeface="Calibri" pitchFamily="34" charset="-120"/>
                        </a:rPr>
                        <a:t>Small drop — high quality slide</a:t>
                      </a:r>
                      <a:endParaRPr lang="en-US" sz="105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274320" y="2377440"/>
            <a:ext cx="2834640" cy="242316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7" name="Shape 4"/>
          <p:cNvSpPr/>
          <p:nvPr/>
        </p:nvSpPr>
        <p:spPr>
          <a:xfrm>
            <a:off x="274320" y="2377440"/>
            <a:ext cx="64008" cy="2423160"/>
          </a:xfrm>
          <a:prstGeom prst="rect">
            <a:avLst/>
          </a:prstGeom>
          <a:solidFill>
            <a:srgbClr val="028090"/>
          </a:solidFill>
          <a:ln w="12700">
            <a:solidFill>
              <a:srgbClr val="028090"/>
            </a:solidFill>
            <a:prstDash val="solid"/>
          </a:ln>
        </p:spPr>
      </p:sp>
      <p:sp>
        <p:nvSpPr>
          <p:cNvPr id="8" name="Text 5"/>
          <p:cNvSpPr/>
          <p:nvPr/>
        </p:nvSpPr>
        <p:spPr>
          <a:xfrm>
            <a:off x="411480" y="2423160"/>
            <a:ext cx="2606040" cy="365760"/>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Non-Uniform Data Reduction</a:t>
            </a:r>
            <a:endParaRPr lang="en-US" sz="1100" dirty="0"/>
          </a:p>
        </p:txBody>
      </p:sp>
      <p:sp>
        <p:nvSpPr>
          <p:cNvPr id="9" name="Text 6"/>
          <p:cNvSpPr/>
          <p:nvPr/>
        </p:nvSpPr>
        <p:spPr>
          <a:xfrm>
            <a:off x="411480" y="2834640"/>
            <a:ext cx="2606040" cy="187452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The preprocessing removed excluded labels, expert disagreements, and corrupted/missing images. This reduction is NOT uniform across slides. Some slides experienced over 70% data loss, indicating severe annotation inconsistency. The JSON file represents only the clean, reliable subset of the original data.</a:t>
            </a:r>
            <a:endParaRPr lang="en-US" sz="950" dirty="0"/>
          </a:p>
        </p:txBody>
      </p:sp>
      <p:sp>
        <p:nvSpPr>
          <p:cNvPr id="10" name="Shape 7"/>
          <p:cNvSpPr/>
          <p:nvPr/>
        </p:nvSpPr>
        <p:spPr>
          <a:xfrm>
            <a:off x="3200400" y="2377440"/>
            <a:ext cx="2834640" cy="242316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11" name="Shape 8"/>
          <p:cNvSpPr/>
          <p:nvPr/>
        </p:nvSpPr>
        <p:spPr>
          <a:xfrm>
            <a:off x="3200400" y="2377440"/>
            <a:ext cx="64008" cy="2423160"/>
          </a:xfrm>
          <a:prstGeom prst="rect">
            <a:avLst/>
          </a:prstGeom>
          <a:solidFill>
            <a:srgbClr val="E85D04"/>
          </a:solidFill>
          <a:ln w="12700">
            <a:solidFill>
              <a:srgbClr val="E85D04"/>
            </a:solidFill>
            <a:prstDash val="solid"/>
          </a:ln>
        </p:spPr>
      </p:sp>
      <p:sp>
        <p:nvSpPr>
          <p:cNvPr id="12" name="Text 9"/>
          <p:cNvSpPr/>
          <p:nvPr/>
        </p:nvSpPr>
        <p:spPr>
          <a:xfrm>
            <a:off x="3337560" y="2423160"/>
            <a:ext cx="2606040" cy="365760"/>
          </a:xfrm>
          <a:prstGeom prst="rect">
            <a:avLst/>
          </a:prstGeom>
          <a:noFill/>
          <a:ln/>
        </p:spPr>
        <p:txBody>
          <a:bodyPr wrap="square" rtlCol="0" anchor="ctr"/>
          <a:lstStyle/>
          <a:p>
            <a:pPr marL="0" indent="0">
              <a:buNone/>
            </a:pPr>
            <a:r>
              <a:rPr lang="en-US" sz="1100" b="1" dirty="0">
                <a:solidFill>
                  <a:srgbClr val="E85D04"/>
                </a:solidFill>
                <a:latin typeface="Calibri" pitchFamily="34" charset="0"/>
                <a:ea typeface="Calibri" pitchFamily="34" charset="-122"/>
                <a:cs typeface="Calibri" pitchFamily="34" charset="-120"/>
              </a:rPr>
              <a:t>Data Leakage Risk</a:t>
            </a:r>
            <a:endParaRPr lang="en-US" sz="1100" dirty="0"/>
          </a:p>
        </p:txBody>
      </p:sp>
      <p:sp>
        <p:nvSpPr>
          <p:cNvPr id="13" name="Text 10"/>
          <p:cNvSpPr/>
          <p:nvPr/>
        </p:nvSpPr>
        <p:spPr>
          <a:xfrm>
            <a:off x="3337560" y="2834640"/>
            <a:ext cx="2606040" cy="187452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Images from the same biopsy slide are visually very similar — they share staining, tissue structure, and imaging conditions. A random 80/20 train-test split can accidentally place images from the same slide in both sets. This causes the model to memorize slide-level patterns instead of learning disease features, leading to inflated test accuracy but poor clinical generalization.</a:t>
            </a:r>
            <a:endParaRPr lang="en-US" sz="950" dirty="0"/>
          </a:p>
        </p:txBody>
      </p:sp>
      <p:sp>
        <p:nvSpPr>
          <p:cNvPr id="14" name="Shape 11"/>
          <p:cNvSpPr/>
          <p:nvPr/>
        </p:nvSpPr>
        <p:spPr>
          <a:xfrm>
            <a:off x="6126480" y="2377440"/>
            <a:ext cx="2834640" cy="242316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15" name="Shape 12"/>
          <p:cNvSpPr/>
          <p:nvPr/>
        </p:nvSpPr>
        <p:spPr>
          <a:xfrm>
            <a:off x="6126480" y="2377440"/>
            <a:ext cx="64008" cy="2423160"/>
          </a:xfrm>
          <a:prstGeom prst="rect">
            <a:avLst/>
          </a:prstGeom>
          <a:solidFill>
            <a:srgbClr val="02A886"/>
          </a:solidFill>
          <a:ln w="12700">
            <a:solidFill>
              <a:srgbClr val="02A886"/>
            </a:solidFill>
            <a:prstDash val="solid"/>
          </a:ln>
        </p:spPr>
      </p:sp>
      <p:sp>
        <p:nvSpPr>
          <p:cNvPr id="16" name="Text 13"/>
          <p:cNvSpPr/>
          <p:nvPr/>
        </p:nvSpPr>
        <p:spPr>
          <a:xfrm>
            <a:off x="6263640" y="2423160"/>
            <a:ext cx="2606040" cy="365760"/>
          </a:xfrm>
          <a:prstGeom prst="rect">
            <a:avLst/>
          </a:prstGeom>
          <a:noFill/>
          <a:ln/>
        </p:spPr>
        <p:txBody>
          <a:bodyPr wrap="square" rtlCol="0" anchor="ctr"/>
          <a:lstStyle/>
          <a:p>
            <a:pPr marL="0" indent="0">
              <a:buNone/>
            </a:pPr>
            <a:r>
              <a:rPr lang="en-US" sz="1100" b="1" dirty="0">
                <a:solidFill>
                  <a:srgbClr val="02A886"/>
                </a:solidFill>
                <a:latin typeface="Calibri" pitchFamily="34" charset="0"/>
                <a:ea typeface="Calibri" pitchFamily="34" charset="-122"/>
                <a:cs typeface="Calibri" pitchFamily="34" charset="-120"/>
              </a:rPr>
              <a:t>Why Slide-wise Splitting is Essential</a:t>
            </a:r>
            <a:endParaRPr lang="en-US" sz="1100" dirty="0"/>
          </a:p>
        </p:txBody>
      </p:sp>
      <p:sp>
        <p:nvSpPr>
          <p:cNvPr id="17" name="Text 14"/>
          <p:cNvSpPr/>
          <p:nvPr/>
        </p:nvSpPr>
        <p:spPr>
          <a:xfrm>
            <a:off x="6263640" y="2834640"/>
            <a:ext cx="2606040" cy="187452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To prevent data leakage, GroupShuffleSplit is used with the slide ID as the group key. This guarantees that all images from a given slide stay in a single split (train, validation, or test). The final split is: ~80% Train, ~10% Validation, ~10% Test. This approach ensures the model is evaluated on truly unseen patients.</a:t>
            </a:r>
            <a:endParaRPr lang="en-US" sz="950" dirty="0"/>
          </a:p>
        </p:txBody>
      </p:sp>
      <p:sp>
        <p:nvSpPr>
          <p:cNvPr id="18" name="Shape 15"/>
          <p:cNvSpPr/>
          <p:nvPr/>
        </p:nvSpPr>
        <p:spPr>
          <a:xfrm>
            <a:off x="0" y="4983480"/>
            <a:ext cx="9144000" cy="160020"/>
          </a:xfrm>
          <a:prstGeom prst="rect">
            <a:avLst/>
          </a:prstGeom>
          <a:solidFill>
            <a:srgbClr val="D4F1EB"/>
          </a:solidFill>
          <a:ln w="12700">
            <a:solidFill>
              <a:srgbClr val="D4F1EB"/>
            </a:solidFill>
            <a:prstDash val="solid"/>
          </a:ln>
        </p:spPr>
      </p:sp>
      <p:sp>
        <p:nvSpPr>
          <p:cNvPr id="19" name="Text 16"/>
          <p:cNvSpPr/>
          <p:nvPr/>
        </p:nvSpPr>
        <p:spPr>
          <a:xfrm>
            <a:off x="274320" y="4983480"/>
            <a:ext cx="8595360" cy="160020"/>
          </a:xfrm>
          <a:prstGeom prst="rect">
            <a:avLst/>
          </a:prstGeom>
          <a:noFill/>
          <a:ln/>
        </p:spPr>
        <p:txBody>
          <a:bodyPr wrap="square" lIns="0" tIns="0" rIns="0" bIns="0" rtlCol="0" anchor="ctr"/>
          <a:lstStyle/>
          <a:p>
            <a:pPr marL="0" indent="0">
              <a:buNone/>
            </a:pP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Exploratory Data Analysis &amp; Class Balancing</a:t>
            </a:r>
            <a:endParaRPr lang="en-US" sz="1700" dirty="0"/>
          </a:p>
        </p:txBody>
      </p:sp>
      <p:sp>
        <p:nvSpPr>
          <p:cNvPr id="4" name="Shape 2"/>
          <p:cNvSpPr/>
          <p:nvPr/>
        </p:nvSpPr>
        <p:spPr>
          <a:xfrm>
            <a:off x="274320" y="658368"/>
            <a:ext cx="4114800" cy="201168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5" name="Shape 3"/>
          <p:cNvSpPr/>
          <p:nvPr/>
        </p:nvSpPr>
        <p:spPr>
          <a:xfrm>
            <a:off x="274320" y="658368"/>
            <a:ext cx="64008" cy="2011680"/>
          </a:xfrm>
          <a:prstGeom prst="rect">
            <a:avLst/>
          </a:prstGeom>
          <a:solidFill>
            <a:srgbClr val="028090"/>
          </a:solidFill>
          <a:ln w="12700">
            <a:solidFill>
              <a:srgbClr val="028090"/>
            </a:solidFill>
            <a:prstDash val="solid"/>
          </a:ln>
        </p:spPr>
      </p:sp>
      <p:sp>
        <p:nvSpPr>
          <p:cNvPr id="6" name="Text 4"/>
          <p:cNvSpPr/>
          <p:nvPr/>
        </p:nvSpPr>
        <p:spPr>
          <a:xfrm>
            <a:off x="457200" y="704088"/>
            <a:ext cx="3749040" cy="347472"/>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Class Distribution (EDA Findings)</a:t>
            </a:r>
            <a:endParaRPr lang="en-US" sz="1200" dirty="0"/>
          </a:p>
        </p:txBody>
      </p:sp>
      <p:sp>
        <p:nvSpPr>
          <p:cNvPr id="7" name="Shape 5"/>
          <p:cNvSpPr/>
          <p:nvPr/>
        </p:nvSpPr>
        <p:spPr>
          <a:xfrm>
            <a:off x="457200" y="1133856"/>
            <a:ext cx="118872" cy="118872"/>
          </a:xfrm>
          <a:prstGeom prst="ellipse">
            <a:avLst/>
          </a:prstGeom>
          <a:solidFill>
            <a:srgbClr val="2D9E5F"/>
          </a:solidFill>
          <a:ln w="12700">
            <a:solidFill>
              <a:srgbClr val="2D9E5F"/>
            </a:solidFill>
            <a:prstDash val="solid"/>
          </a:ln>
        </p:spPr>
      </p:sp>
      <p:sp>
        <p:nvSpPr>
          <p:cNvPr id="8" name="Text 6"/>
          <p:cNvSpPr/>
          <p:nvPr/>
        </p:nvSpPr>
        <p:spPr>
          <a:xfrm>
            <a:off x="640080" y="1106424"/>
            <a:ext cx="1463040" cy="274320"/>
          </a:xfrm>
          <a:prstGeom prst="rect">
            <a:avLst/>
          </a:prstGeom>
          <a:noFill/>
          <a:ln/>
        </p:spPr>
        <p:txBody>
          <a:bodyPr wrap="square" rtlCol="0" anchor="ctr"/>
          <a:lstStyle/>
          <a:p>
            <a:pPr marL="0" indent="0">
              <a:buNone/>
            </a:pPr>
            <a:r>
              <a:rPr lang="en-US" sz="1050" b="1" dirty="0">
                <a:solidFill>
                  <a:srgbClr val="2D9E5F"/>
                </a:solidFill>
                <a:latin typeface="Calibri" pitchFamily="34" charset="0"/>
                <a:ea typeface="Calibri" pitchFamily="34" charset="-122"/>
                <a:cs typeface="Calibri" pitchFamily="34" charset="-120"/>
              </a:rPr>
              <a:t>Normal (0)</a:t>
            </a:r>
            <a:endParaRPr lang="en-US" sz="1050" dirty="0"/>
          </a:p>
        </p:txBody>
      </p:sp>
      <p:sp>
        <p:nvSpPr>
          <p:cNvPr id="9" name="Shape 7"/>
          <p:cNvSpPr/>
          <p:nvPr/>
        </p:nvSpPr>
        <p:spPr>
          <a:xfrm>
            <a:off x="2148840" y="1143000"/>
            <a:ext cx="621792" cy="164592"/>
          </a:xfrm>
          <a:prstGeom prst="rect">
            <a:avLst/>
          </a:prstGeom>
          <a:solidFill>
            <a:srgbClr val="2D9E5F"/>
          </a:solidFill>
          <a:ln w="12700">
            <a:solidFill>
              <a:srgbClr val="2D9E5F"/>
            </a:solidFill>
            <a:prstDash val="solid"/>
          </a:ln>
        </p:spPr>
      </p:sp>
      <p:sp>
        <p:nvSpPr>
          <p:cNvPr id="10" name="Text 8"/>
          <p:cNvSpPr/>
          <p:nvPr/>
        </p:nvSpPr>
        <p:spPr>
          <a:xfrm>
            <a:off x="2798064" y="1106424"/>
            <a:ext cx="1005840" cy="256032"/>
          </a:xfrm>
          <a:prstGeom prst="rect">
            <a:avLst/>
          </a:prstGeom>
          <a:noFill/>
          <a:ln/>
        </p:spPr>
        <p:txBody>
          <a:bodyPr wrap="square" rtlCol="0" anchor="ctr"/>
          <a:lstStyle/>
          <a:p>
            <a:pPr marL="0" indent="0">
              <a:buNone/>
            </a:pPr>
            <a:r>
              <a:rPr lang="en-US" sz="950" dirty="0">
                <a:solidFill>
                  <a:srgbClr val="4A6B72"/>
                </a:solidFill>
                <a:latin typeface="Calibri" pitchFamily="34" charset="0"/>
                <a:ea typeface="Calibri" pitchFamily="34" charset="-122"/>
                <a:cs typeface="Calibri" pitchFamily="34" charset="-120"/>
              </a:rPr>
              <a:t>~785 imgs</a:t>
            </a:r>
            <a:endParaRPr lang="en-US" sz="950" dirty="0"/>
          </a:p>
        </p:txBody>
      </p:sp>
      <p:sp>
        <p:nvSpPr>
          <p:cNvPr id="11" name="Shape 9"/>
          <p:cNvSpPr/>
          <p:nvPr/>
        </p:nvSpPr>
        <p:spPr>
          <a:xfrm>
            <a:off x="457200" y="1472184"/>
            <a:ext cx="118872" cy="118872"/>
          </a:xfrm>
          <a:prstGeom prst="ellipse">
            <a:avLst/>
          </a:prstGeom>
          <a:solidFill>
            <a:srgbClr val="E8A838"/>
          </a:solidFill>
          <a:ln w="12700">
            <a:solidFill>
              <a:srgbClr val="E8A838"/>
            </a:solidFill>
            <a:prstDash val="solid"/>
          </a:ln>
        </p:spPr>
      </p:sp>
      <p:sp>
        <p:nvSpPr>
          <p:cNvPr id="12" name="Text 10"/>
          <p:cNvSpPr/>
          <p:nvPr/>
        </p:nvSpPr>
        <p:spPr>
          <a:xfrm>
            <a:off x="640080" y="1444752"/>
            <a:ext cx="1463040" cy="274320"/>
          </a:xfrm>
          <a:prstGeom prst="rect">
            <a:avLst/>
          </a:prstGeom>
          <a:noFill/>
          <a:ln/>
        </p:spPr>
        <p:txBody>
          <a:bodyPr wrap="square" rtlCol="0" anchor="ctr"/>
          <a:lstStyle/>
          <a:p>
            <a:pPr marL="0" indent="0">
              <a:buNone/>
            </a:pPr>
            <a:r>
              <a:rPr lang="en-US" sz="1050" b="1" dirty="0">
                <a:solidFill>
                  <a:srgbClr val="E8A838"/>
                </a:solidFill>
                <a:latin typeface="Calibri" pitchFamily="34" charset="0"/>
                <a:ea typeface="Calibri" pitchFamily="34" charset="-122"/>
                <a:cs typeface="Calibri" pitchFamily="34" charset="-120"/>
              </a:rPr>
              <a:t>Mild (1)</a:t>
            </a:r>
            <a:endParaRPr lang="en-US" sz="1050" dirty="0"/>
          </a:p>
        </p:txBody>
      </p:sp>
      <p:sp>
        <p:nvSpPr>
          <p:cNvPr id="13" name="Shape 11"/>
          <p:cNvSpPr/>
          <p:nvPr/>
        </p:nvSpPr>
        <p:spPr>
          <a:xfrm>
            <a:off x="2148840" y="1481328"/>
            <a:ext cx="512064" cy="164592"/>
          </a:xfrm>
          <a:prstGeom prst="rect">
            <a:avLst/>
          </a:prstGeom>
          <a:solidFill>
            <a:srgbClr val="E8A838"/>
          </a:solidFill>
          <a:ln w="12700">
            <a:solidFill>
              <a:srgbClr val="E8A838"/>
            </a:solidFill>
            <a:prstDash val="solid"/>
          </a:ln>
        </p:spPr>
      </p:sp>
      <p:sp>
        <p:nvSpPr>
          <p:cNvPr id="14" name="Text 12"/>
          <p:cNvSpPr/>
          <p:nvPr/>
        </p:nvSpPr>
        <p:spPr>
          <a:xfrm>
            <a:off x="2688336" y="1444752"/>
            <a:ext cx="1005840" cy="256032"/>
          </a:xfrm>
          <a:prstGeom prst="rect">
            <a:avLst/>
          </a:prstGeom>
          <a:noFill/>
          <a:ln/>
        </p:spPr>
        <p:txBody>
          <a:bodyPr wrap="square" rtlCol="0" anchor="ctr"/>
          <a:lstStyle/>
          <a:p>
            <a:pPr marL="0" indent="0">
              <a:buNone/>
            </a:pPr>
            <a:r>
              <a:rPr lang="en-US" sz="950" dirty="0">
                <a:solidFill>
                  <a:srgbClr val="4A6B72"/>
                </a:solidFill>
                <a:latin typeface="Calibri" pitchFamily="34" charset="0"/>
                <a:ea typeface="Calibri" pitchFamily="34" charset="-122"/>
                <a:cs typeface="Calibri" pitchFamily="34" charset="-120"/>
              </a:rPr>
              <a:t>~645 imgs</a:t>
            </a:r>
            <a:endParaRPr lang="en-US" sz="950" dirty="0"/>
          </a:p>
        </p:txBody>
      </p:sp>
      <p:sp>
        <p:nvSpPr>
          <p:cNvPr id="15" name="Shape 13"/>
          <p:cNvSpPr/>
          <p:nvPr/>
        </p:nvSpPr>
        <p:spPr>
          <a:xfrm>
            <a:off x="457200" y="1810512"/>
            <a:ext cx="118872" cy="118872"/>
          </a:xfrm>
          <a:prstGeom prst="ellipse">
            <a:avLst/>
          </a:prstGeom>
          <a:solidFill>
            <a:srgbClr val="E06B2A"/>
          </a:solidFill>
          <a:ln w="12700">
            <a:solidFill>
              <a:srgbClr val="E06B2A"/>
            </a:solidFill>
            <a:prstDash val="solid"/>
          </a:ln>
        </p:spPr>
      </p:sp>
      <p:sp>
        <p:nvSpPr>
          <p:cNvPr id="16" name="Text 14"/>
          <p:cNvSpPr/>
          <p:nvPr/>
        </p:nvSpPr>
        <p:spPr>
          <a:xfrm>
            <a:off x="640080" y="1783080"/>
            <a:ext cx="1463040" cy="274320"/>
          </a:xfrm>
          <a:prstGeom prst="rect">
            <a:avLst/>
          </a:prstGeom>
          <a:noFill/>
          <a:ln/>
        </p:spPr>
        <p:txBody>
          <a:bodyPr wrap="square" rtlCol="0" anchor="ctr"/>
          <a:lstStyle/>
          <a:p>
            <a:pPr marL="0" indent="0">
              <a:buNone/>
            </a:pPr>
            <a:r>
              <a:rPr lang="en-US" sz="1050" b="1" dirty="0">
                <a:solidFill>
                  <a:srgbClr val="E06B2A"/>
                </a:solidFill>
                <a:latin typeface="Calibri" pitchFamily="34" charset="0"/>
                <a:ea typeface="Calibri" pitchFamily="34" charset="-122"/>
                <a:cs typeface="Calibri" pitchFamily="34" charset="-120"/>
              </a:rPr>
              <a:t>Moderate (2)</a:t>
            </a:r>
            <a:endParaRPr lang="en-US" sz="1050" dirty="0"/>
          </a:p>
        </p:txBody>
      </p:sp>
      <p:sp>
        <p:nvSpPr>
          <p:cNvPr id="17" name="Shape 15"/>
          <p:cNvSpPr/>
          <p:nvPr/>
        </p:nvSpPr>
        <p:spPr>
          <a:xfrm>
            <a:off x="2148840" y="1819656"/>
            <a:ext cx="329184" cy="164592"/>
          </a:xfrm>
          <a:prstGeom prst="rect">
            <a:avLst/>
          </a:prstGeom>
          <a:solidFill>
            <a:srgbClr val="E06B2A"/>
          </a:solidFill>
          <a:ln w="12700">
            <a:solidFill>
              <a:srgbClr val="E06B2A"/>
            </a:solidFill>
            <a:prstDash val="solid"/>
          </a:ln>
        </p:spPr>
      </p:sp>
      <p:sp>
        <p:nvSpPr>
          <p:cNvPr id="18" name="Text 16"/>
          <p:cNvSpPr/>
          <p:nvPr/>
        </p:nvSpPr>
        <p:spPr>
          <a:xfrm>
            <a:off x="2505456" y="1783080"/>
            <a:ext cx="1005840" cy="256032"/>
          </a:xfrm>
          <a:prstGeom prst="rect">
            <a:avLst/>
          </a:prstGeom>
          <a:noFill/>
          <a:ln/>
        </p:spPr>
        <p:txBody>
          <a:bodyPr wrap="square" rtlCol="0" anchor="ctr"/>
          <a:lstStyle/>
          <a:p>
            <a:pPr marL="0" indent="0">
              <a:buNone/>
            </a:pPr>
            <a:r>
              <a:rPr lang="en-US" sz="950" dirty="0">
                <a:solidFill>
                  <a:srgbClr val="4A6B72"/>
                </a:solidFill>
                <a:latin typeface="Calibri" pitchFamily="34" charset="0"/>
                <a:ea typeface="Calibri" pitchFamily="34" charset="-122"/>
                <a:cs typeface="Calibri" pitchFamily="34" charset="-120"/>
              </a:rPr>
              <a:t>~415 imgs</a:t>
            </a:r>
            <a:endParaRPr lang="en-US" sz="950" dirty="0"/>
          </a:p>
        </p:txBody>
      </p:sp>
      <p:sp>
        <p:nvSpPr>
          <p:cNvPr id="19" name="Shape 17"/>
          <p:cNvSpPr/>
          <p:nvPr/>
        </p:nvSpPr>
        <p:spPr>
          <a:xfrm>
            <a:off x="457200" y="2148840"/>
            <a:ext cx="118872" cy="118872"/>
          </a:xfrm>
          <a:prstGeom prst="ellipse">
            <a:avLst/>
          </a:prstGeom>
          <a:solidFill>
            <a:srgbClr val="C0392B"/>
          </a:solidFill>
          <a:ln w="12700">
            <a:solidFill>
              <a:srgbClr val="C0392B"/>
            </a:solidFill>
            <a:prstDash val="solid"/>
          </a:ln>
        </p:spPr>
      </p:sp>
      <p:sp>
        <p:nvSpPr>
          <p:cNvPr id="20" name="Text 18"/>
          <p:cNvSpPr/>
          <p:nvPr/>
        </p:nvSpPr>
        <p:spPr>
          <a:xfrm>
            <a:off x="640080" y="2121408"/>
            <a:ext cx="1463040" cy="274320"/>
          </a:xfrm>
          <a:prstGeom prst="rect">
            <a:avLst/>
          </a:prstGeom>
          <a:noFill/>
          <a:ln/>
        </p:spPr>
        <p:txBody>
          <a:bodyPr wrap="square"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Severe (3)</a:t>
            </a:r>
            <a:endParaRPr lang="en-US" sz="1050" dirty="0"/>
          </a:p>
        </p:txBody>
      </p:sp>
      <p:sp>
        <p:nvSpPr>
          <p:cNvPr id="21" name="Shape 19"/>
          <p:cNvSpPr/>
          <p:nvPr/>
        </p:nvSpPr>
        <p:spPr>
          <a:xfrm>
            <a:off x="2148840" y="2157984"/>
            <a:ext cx="365760" cy="164592"/>
          </a:xfrm>
          <a:prstGeom prst="rect">
            <a:avLst/>
          </a:prstGeom>
          <a:solidFill>
            <a:srgbClr val="C0392B"/>
          </a:solidFill>
          <a:ln w="12700">
            <a:solidFill>
              <a:srgbClr val="C0392B"/>
            </a:solidFill>
            <a:prstDash val="solid"/>
          </a:ln>
        </p:spPr>
      </p:sp>
      <p:sp>
        <p:nvSpPr>
          <p:cNvPr id="22" name="Text 20"/>
          <p:cNvSpPr/>
          <p:nvPr/>
        </p:nvSpPr>
        <p:spPr>
          <a:xfrm>
            <a:off x="2542032" y="2121408"/>
            <a:ext cx="1005840" cy="256032"/>
          </a:xfrm>
          <a:prstGeom prst="rect">
            <a:avLst/>
          </a:prstGeom>
          <a:noFill/>
          <a:ln/>
        </p:spPr>
        <p:txBody>
          <a:bodyPr wrap="square" rtlCol="0" anchor="ctr"/>
          <a:lstStyle/>
          <a:p>
            <a:pPr marL="0" indent="0">
              <a:buNone/>
            </a:pPr>
            <a:r>
              <a:rPr lang="en-US" sz="950" dirty="0">
                <a:solidFill>
                  <a:srgbClr val="4A6B72"/>
                </a:solidFill>
                <a:latin typeface="Calibri" pitchFamily="34" charset="0"/>
                <a:ea typeface="Calibri" pitchFamily="34" charset="-122"/>
                <a:cs typeface="Calibri" pitchFamily="34" charset="-120"/>
              </a:rPr>
              <a:t>~460 imgs</a:t>
            </a:r>
            <a:endParaRPr lang="en-US" sz="950" dirty="0"/>
          </a:p>
        </p:txBody>
      </p:sp>
      <p:sp>
        <p:nvSpPr>
          <p:cNvPr id="23" name="Text 21"/>
          <p:cNvSpPr/>
          <p:nvPr/>
        </p:nvSpPr>
        <p:spPr>
          <a:xfrm>
            <a:off x="457200" y="2331720"/>
            <a:ext cx="3749040" cy="274320"/>
          </a:xfrm>
          <a:prstGeom prst="rect">
            <a:avLst/>
          </a:prstGeom>
          <a:noFill/>
          <a:ln/>
        </p:spPr>
        <p:txBody>
          <a:bodyPr wrap="square" rtlCol="0" anchor="ctr"/>
          <a:lstStyle/>
          <a:p>
            <a:pPr marL="0" indent="0">
              <a:buNone/>
            </a:pPr>
            <a:r>
              <a:rPr lang="en-US" sz="950" i="1" dirty="0">
                <a:solidFill>
                  <a:srgbClr val="4A6B72"/>
                </a:solidFill>
                <a:latin typeface="Calibri" pitchFamily="34" charset="0"/>
                <a:ea typeface="Calibri" pitchFamily="34" charset="-122"/>
                <a:cs typeface="Calibri" pitchFamily="34" charset="-120"/>
              </a:rPr>
              <a:t>Imbalance Ratio (max/min): ~1.9 — Moderately imbalanced dataset</a:t>
            </a:r>
            <a:endParaRPr lang="en-US" sz="950" dirty="0"/>
          </a:p>
        </p:txBody>
      </p:sp>
      <p:sp>
        <p:nvSpPr>
          <p:cNvPr id="24" name="Shape 22"/>
          <p:cNvSpPr/>
          <p:nvPr/>
        </p:nvSpPr>
        <p:spPr>
          <a:xfrm>
            <a:off x="4663440" y="658368"/>
            <a:ext cx="4206240" cy="201168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25" name="Shape 23"/>
          <p:cNvSpPr/>
          <p:nvPr/>
        </p:nvSpPr>
        <p:spPr>
          <a:xfrm>
            <a:off x="4663440" y="658368"/>
            <a:ext cx="64008" cy="2011680"/>
          </a:xfrm>
          <a:prstGeom prst="rect">
            <a:avLst/>
          </a:prstGeom>
          <a:solidFill>
            <a:srgbClr val="E85D04"/>
          </a:solidFill>
          <a:ln w="12700">
            <a:solidFill>
              <a:srgbClr val="E85D04"/>
            </a:solidFill>
            <a:prstDash val="solid"/>
          </a:ln>
        </p:spPr>
      </p:sp>
      <p:sp>
        <p:nvSpPr>
          <p:cNvPr id="26" name="Text 24"/>
          <p:cNvSpPr/>
          <p:nvPr/>
        </p:nvSpPr>
        <p:spPr>
          <a:xfrm>
            <a:off x="4846320" y="704088"/>
            <a:ext cx="3840480" cy="347472"/>
          </a:xfrm>
          <a:prstGeom prst="rect">
            <a:avLst/>
          </a:prstGeom>
          <a:noFill/>
          <a:ln/>
        </p:spPr>
        <p:txBody>
          <a:bodyPr wrap="square" rtlCol="0" anchor="ctr"/>
          <a:lstStyle/>
          <a:p>
            <a:pPr marL="0" indent="0">
              <a:buNone/>
            </a:pPr>
            <a:r>
              <a:rPr lang="en-US" sz="1200" b="1" dirty="0">
                <a:solidFill>
                  <a:srgbClr val="E85D04"/>
                </a:solidFill>
                <a:latin typeface="Calibri" pitchFamily="34" charset="0"/>
                <a:ea typeface="Calibri" pitchFamily="34" charset="-122"/>
                <a:cs typeface="Calibri" pitchFamily="34" charset="-120"/>
              </a:rPr>
              <a:t>Why Class Imbalance is a Problem</a:t>
            </a:r>
            <a:endParaRPr lang="en-US" sz="1200" dirty="0"/>
          </a:p>
        </p:txBody>
      </p:sp>
      <p:sp>
        <p:nvSpPr>
          <p:cNvPr id="27" name="Shape 25"/>
          <p:cNvSpPr/>
          <p:nvPr/>
        </p:nvSpPr>
        <p:spPr>
          <a:xfrm>
            <a:off x="4846320" y="1143000"/>
            <a:ext cx="118872" cy="118872"/>
          </a:xfrm>
          <a:prstGeom prst="ellipse">
            <a:avLst/>
          </a:prstGeom>
          <a:solidFill>
            <a:srgbClr val="E85D04"/>
          </a:solidFill>
          <a:ln w="12700">
            <a:solidFill>
              <a:srgbClr val="E85D04"/>
            </a:solidFill>
            <a:prstDash val="solid"/>
          </a:ln>
        </p:spPr>
      </p:sp>
      <p:sp>
        <p:nvSpPr>
          <p:cNvPr id="28" name="Text 26"/>
          <p:cNvSpPr/>
          <p:nvPr/>
        </p:nvSpPr>
        <p:spPr>
          <a:xfrm>
            <a:off x="5029200" y="1115568"/>
            <a:ext cx="3749040" cy="310896"/>
          </a:xfrm>
          <a:prstGeom prst="rect">
            <a:avLst/>
          </a:prstGeom>
          <a:noFill/>
          <a:ln/>
        </p:spPr>
        <p:txBody>
          <a:bodyPr wrap="square" rtlCol="0" anchor="ctr"/>
          <a:lstStyle/>
          <a:p>
            <a:pPr marL="0" indent="0">
              <a:buNone/>
            </a:pPr>
            <a:r>
              <a:rPr lang="en-US" sz="1000" dirty="0">
                <a:solidFill>
                  <a:srgbClr val="1C2B30"/>
                </a:solidFill>
                <a:latin typeface="Calibri" pitchFamily="34" charset="0"/>
                <a:ea typeface="Calibri" pitchFamily="34" charset="-122"/>
                <a:cs typeface="Calibri" pitchFamily="34" charset="-120"/>
              </a:rPr>
              <a:t>Models tend to bias toward majority classes (Normal/Mild).</a:t>
            </a:r>
            <a:endParaRPr lang="en-US" sz="1000" dirty="0"/>
          </a:p>
        </p:txBody>
      </p:sp>
      <p:sp>
        <p:nvSpPr>
          <p:cNvPr id="29" name="Shape 27"/>
          <p:cNvSpPr/>
          <p:nvPr/>
        </p:nvSpPr>
        <p:spPr>
          <a:xfrm>
            <a:off x="4846320" y="1490472"/>
            <a:ext cx="118872" cy="118872"/>
          </a:xfrm>
          <a:prstGeom prst="ellipse">
            <a:avLst/>
          </a:prstGeom>
          <a:solidFill>
            <a:srgbClr val="E85D04"/>
          </a:solidFill>
          <a:ln w="12700">
            <a:solidFill>
              <a:srgbClr val="E85D04"/>
            </a:solidFill>
            <a:prstDash val="solid"/>
          </a:ln>
        </p:spPr>
      </p:sp>
      <p:sp>
        <p:nvSpPr>
          <p:cNvPr id="30" name="Text 28"/>
          <p:cNvSpPr/>
          <p:nvPr/>
        </p:nvSpPr>
        <p:spPr>
          <a:xfrm>
            <a:off x="5029200" y="1463040"/>
            <a:ext cx="3749040" cy="310896"/>
          </a:xfrm>
          <a:prstGeom prst="rect">
            <a:avLst/>
          </a:prstGeom>
          <a:noFill/>
          <a:ln/>
        </p:spPr>
        <p:txBody>
          <a:bodyPr wrap="square" rtlCol="0" anchor="ctr"/>
          <a:lstStyle/>
          <a:p>
            <a:pPr marL="0" indent="0">
              <a:buNone/>
            </a:pPr>
            <a:r>
              <a:rPr lang="en-US" sz="1000" dirty="0">
                <a:solidFill>
                  <a:srgbClr val="1C2B30"/>
                </a:solidFill>
                <a:latin typeface="Calibri" pitchFamily="34" charset="0"/>
                <a:ea typeface="Calibri" pitchFamily="34" charset="-122"/>
                <a:cs typeface="Calibri" pitchFamily="34" charset="-120"/>
              </a:rPr>
              <a:t>Minority classes (Moderate/Severe) are under-represented during gradient updates.</a:t>
            </a:r>
            <a:endParaRPr lang="en-US" sz="1000" dirty="0"/>
          </a:p>
        </p:txBody>
      </p:sp>
      <p:sp>
        <p:nvSpPr>
          <p:cNvPr id="31" name="Shape 29"/>
          <p:cNvSpPr/>
          <p:nvPr/>
        </p:nvSpPr>
        <p:spPr>
          <a:xfrm>
            <a:off x="4846320" y="1837944"/>
            <a:ext cx="118872" cy="118872"/>
          </a:xfrm>
          <a:prstGeom prst="ellipse">
            <a:avLst/>
          </a:prstGeom>
          <a:solidFill>
            <a:srgbClr val="E85D04"/>
          </a:solidFill>
          <a:ln w="12700">
            <a:solidFill>
              <a:srgbClr val="E85D04"/>
            </a:solidFill>
            <a:prstDash val="solid"/>
          </a:ln>
        </p:spPr>
      </p:sp>
      <p:sp>
        <p:nvSpPr>
          <p:cNvPr id="32" name="Text 30"/>
          <p:cNvSpPr/>
          <p:nvPr/>
        </p:nvSpPr>
        <p:spPr>
          <a:xfrm>
            <a:off x="5029200" y="1810512"/>
            <a:ext cx="3749040" cy="310896"/>
          </a:xfrm>
          <a:prstGeom prst="rect">
            <a:avLst/>
          </a:prstGeom>
          <a:noFill/>
          <a:ln/>
        </p:spPr>
        <p:txBody>
          <a:bodyPr wrap="square" rtlCol="0" anchor="ctr"/>
          <a:lstStyle/>
          <a:p>
            <a:pPr marL="0" indent="0">
              <a:buNone/>
            </a:pPr>
            <a:r>
              <a:rPr lang="en-US" sz="1000" dirty="0">
                <a:solidFill>
                  <a:srgbClr val="1C2B30"/>
                </a:solidFill>
                <a:latin typeface="Calibri" pitchFamily="34" charset="0"/>
                <a:ea typeface="Calibri" pitchFamily="34" charset="-122"/>
                <a:cs typeface="Calibri" pitchFamily="34" charset="-120"/>
              </a:rPr>
              <a:t>Standard accuracy metrics become misleading — high accuracy despite missing Severe cases.</a:t>
            </a:r>
            <a:endParaRPr lang="en-US" sz="1000" dirty="0"/>
          </a:p>
        </p:txBody>
      </p:sp>
      <p:sp>
        <p:nvSpPr>
          <p:cNvPr id="33" name="Shape 31"/>
          <p:cNvSpPr/>
          <p:nvPr/>
        </p:nvSpPr>
        <p:spPr>
          <a:xfrm>
            <a:off x="4846320" y="2185416"/>
            <a:ext cx="118872" cy="118872"/>
          </a:xfrm>
          <a:prstGeom prst="ellipse">
            <a:avLst/>
          </a:prstGeom>
          <a:solidFill>
            <a:srgbClr val="E85D04"/>
          </a:solidFill>
          <a:ln w="12700">
            <a:solidFill>
              <a:srgbClr val="E85D04"/>
            </a:solidFill>
            <a:prstDash val="solid"/>
          </a:ln>
        </p:spPr>
      </p:sp>
      <p:sp>
        <p:nvSpPr>
          <p:cNvPr id="34" name="Text 32"/>
          <p:cNvSpPr/>
          <p:nvPr/>
        </p:nvSpPr>
        <p:spPr>
          <a:xfrm>
            <a:off x="5029200" y="2157984"/>
            <a:ext cx="3749040" cy="310896"/>
          </a:xfrm>
          <a:prstGeom prst="rect">
            <a:avLst/>
          </a:prstGeom>
          <a:noFill/>
          <a:ln/>
        </p:spPr>
        <p:txBody>
          <a:bodyPr wrap="square" rtlCol="0" anchor="ctr"/>
          <a:lstStyle/>
          <a:p>
            <a:pPr marL="0" indent="0">
              <a:buNone/>
            </a:pPr>
            <a:r>
              <a:rPr lang="en-US" sz="1000" dirty="0">
                <a:solidFill>
                  <a:srgbClr val="1C2B30"/>
                </a:solidFill>
                <a:latin typeface="Calibri" pitchFamily="34" charset="0"/>
                <a:ea typeface="Calibri" pitchFamily="34" charset="-122"/>
                <a:cs typeface="Calibri" pitchFamily="34" charset="-120"/>
              </a:rPr>
              <a:t>Medical context: missing a Severe classification can have serious clinical consequences.</a:t>
            </a:r>
            <a:endParaRPr lang="en-US" sz="1000" dirty="0"/>
          </a:p>
        </p:txBody>
      </p:sp>
      <p:sp>
        <p:nvSpPr>
          <p:cNvPr id="35" name="Shape 33"/>
          <p:cNvSpPr/>
          <p:nvPr/>
        </p:nvSpPr>
        <p:spPr>
          <a:xfrm>
            <a:off x="274320" y="2816352"/>
            <a:ext cx="8595360" cy="201168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36" name="Text 34"/>
          <p:cNvSpPr/>
          <p:nvPr/>
        </p:nvSpPr>
        <p:spPr>
          <a:xfrm>
            <a:off x="457200" y="2862072"/>
            <a:ext cx="8229600" cy="347472"/>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Balancing Strategies Applied</a:t>
            </a:r>
            <a:endParaRPr lang="en-US" sz="1200" dirty="0"/>
          </a:p>
        </p:txBody>
      </p:sp>
      <p:sp>
        <p:nvSpPr>
          <p:cNvPr id="37" name="Shape 35"/>
          <p:cNvSpPr/>
          <p:nvPr/>
        </p:nvSpPr>
        <p:spPr>
          <a:xfrm>
            <a:off x="457200" y="3264408"/>
            <a:ext cx="64008" cy="1481328"/>
          </a:xfrm>
          <a:prstGeom prst="rect">
            <a:avLst/>
          </a:prstGeom>
          <a:solidFill>
            <a:srgbClr val="028090"/>
          </a:solidFill>
          <a:ln w="12700">
            <a:solidFill>
              <a:srgbClr val="028090"/>
            </a:solidFill>
            <a:prstDash val="solid"/>
          </a:ln>
        </p:spPr>
      </p:sp>
      <p:sp>
        <p:nvSpPr>
          <p:cNvPr id="38" name="Text 36"/>
          <p:cNvSpPr/>
          <p:nvPr/>
        </p:nvSpPr>
        <p:spPr>
          <a:xfrm>
            <a:off x="585216" y="3264408"/>
            <a:ext cx="2606040" cy="274320"/>
          </a:xfrm>
          <a:prstGeom prst="rect">
            <a:avLst/>
          </a:prstGeom>
          <a:noFill/>
          <a:ln/>
        </p:spPr>
        <p:txBody>
          <a:bodyPr wrap="square"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Class Weights (Primary)</a:t>
            </a:r>
            <a:endParaRPr lang="en-US" sz="1050" dirty="0"/>
          </a:p>
        </p:txBody>
      </p:sp>
      <p:sp>
        <p:nvSpPr>
          <p:cNvPr id="39" name="Text 37"/>
          <p:cNvSpPr/>
          <p:nvPr/>
        </p:nvSpPr>
        <p:spPr>
          <a:xfrm>
            <a:off x="585216" y="3547872"/>
            <a:ext cx="2606040" cy="118872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sklearn.utils.class_weight.compute_class_weight('balanced') computes weights inversely proportional to class frequency. During model.fit(), these weights penalise the model more for mistakes on rare classes. This is the main balancing method, applied to both EfficientNet-B3 and ViT training.</a:t>
            </a:r>
            <a:endParaRPr lang="en-US" sz="950" dirty="0"/>
          </a:p>
        </p:txBody>
      </p:sp>
      <p:sp>
        <p:nvSpPr>
          <p:cNvPr id="40" name="Shape 38"/>
          <p:cNvSpPr/>
          <p:nvPr/>
        </p:nvSpPr>
        <p:spPr>
          <a:xfrm>
            <a:off x="3291840" y="3264408"/>
            <a:ext cx="64008" cy="1481328"/>
          </a:xfrm>
          <a:prstGeom prst="rect">
            <a:avLst/>
          </a:prstGeom>
          <a:solidFill>
            <a:srgbClr val="02A886"/>
          </a:solidFill>
          <a:ln w="12700">
            <a:solidFill>
              <a:srgbClr val="02A886"/>
            </a:solidFill>
            <a:prstDash val="solid"/>
          </a:ln>
        </p:spPr>
      </p:sp>
      <p:sp>
        <p:nvSpPr>
          <p:cNvPr id="41" name="Text 39"/>
          <p:cNvSpPr/>
          <p:nvPr/>
        </p:nvSpPr>
        <p:spPr>
          <a:xfrm>
            <a:off x="3419856" y="3264408"/>
            <a:ext cx="2606040" cy="274320"/>
          </a:xfrm>
          <a:prstGeom prst="rect">
            <a:avLst/>
          </a:prstGeom>
          <a:noFill/>
          <a:ln/>
        </p:spPr>
        <p:txBody>
          <a:bodyPr wrap="square" rtlCol="0" anchor="ctr"/>
          <a:lstStyle/>
          <a:p>
            <a:pPr marL="0" indent="0">
              <a:buNone/>
            </a:pPr>
            <a:r>
              <a:rPr lang="en-US" sz="1050" b="1" dirty="0">
                <a:solidFill>
                  <a:srgbClr val="02A886"/>
                </a:solidFill>
                <a:latin typeface="Calibri" pitchFamily="34" charset="0"/>
                <a:ea typeface="Calibri" pitchFamily="34" charset="-122"/>
                <a:cs typeface="Calibri" pitchFamily="34" charset="-120"/>
              </a:rPr>
              <a:t>Oversampling Validation</a:t>
            </a:r>
            <a:endParaRPr lang="en-US" sz="1050" dirty="0"/>
          </a:p>
        </p:txBody>
      </p:sp>
      <p:sp>
        <p:nvSpPr>
          <p:cNvPr id="42" name="Text 40"/>
          <p:cNvSpPr/>
          <p:nvPr/>
        </p:nvSpPr>
        <p:spPr>
          <a:xfrm>
            <a:off x="3419856" y="3547872"/>
            <a:ext cx="2606040" cy="118872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An oversampling experiment was run using sklearn.utils.resample() to duplicate minority class images to match the majority count. Before vs after class distribution was plotted to verify balance. Final imbalance ratio drops from ~1.9 to 1.0 after oversampling — used for analysis only.</a:t>
            </a:r>
            <a:endParaRPr lang="en-US" sz="950" dirty="0"/>
          </a:p>
        </p:txBody>
      </p:sp>
      <p:sp>
        <p:nvSpPr>
          <p:cNvPr id="43" name="Shape 41"/>
          <p:cNvSpPr/>
          <p:nvPr/>
        </p:nvSpPr>
        <p:spPr>
          <a:xfrm>
            <a:off x="6126480" y="3264408"/>
            <a:ext cx="64008" cy="1481328"/>
          </a:xfrm>
          <a:prstGeom prst="rect">
            <a:avLst/>
          </a:prstGeom>
          <a:solidFill>
            <a:srgbClr val="E85D04"/>
          </a:solidFill>
          <a:ln w="12700">
            <a:solidFill>
              <a:srgbClr val="E85D04"/>
            </a:solidFill>
            <a:prstDash val="solid"/>
          </a:ln>
        </p:spPr>
      </p:sp>
      <p:sp>
        <p:nvSpPr>
          <p:cNvPr id="44" name="Text 42"/>
          <p:cNvSpPr/>
          <p:nvPr/>
        </p:nvSpPr>
        <p:spPr>
          <a:xfrm>
            <a:off x="6254496" y="3264408"/>
            <a:ext cx="2606040" cy="274320"/>
          </a:xfrm>
          <a:prstGeom prst="rect">
            <a:avLst/>
          </a:prstGeom>
          <a:noFill/>
          <a:ln/>
        </p:spPr>
        <p:txBody>
          <a:bodyPr wrap="square" rtlCol="0" anchor="ctr"/>
          <a:lstStyle/>
          <a:p>
            <a:pPr marL="0" indent="0">
              <a:buNone/>
            </a:pPr>
            <a:r>
              <a:rPr lang="en-US" sz="1050" b="1" dirty="0">
                <a:solidFill>
                  <a:srgbClr val="E85D04"/>
                </a:solidFill>
                <a:latin typeface="Calibri" pitchFamily="34" charset="0"/>
                <a:ea typeface="Calibri" pitchFamily="34" charset="-122"/>
                <a:cs typeface="Calibri" pitchFamily="34" charset="-120"/>
              </a:rPr>
              <a:t>Data Augmentation (Implicit Balance)</a:t>
            </a:r>
            <a:endParaRPr lang="en-US" sz="1050" dirty="0"/>
          </a:p>
        </p:txBody>
      </p:sp>
      <p:sp>
        <p:nvSpPr>
          <p:cNvPr id="45" name="Text 43"/>
          <p:cNvSpPr/>
          <p:nvPr/>
        </p:nvSpPr>
        <p:spPr>
          <a:xfrm>
            <a:off x="6254496" y="3547872"/>
            <a:ext cx="2606040" cy="118872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The ImageDataGenerator applies rotation (±20°), width/height shifts (10%), zoom (15%), horizontal/vertical flips, and brightness variation [0.8–1.2]. Augmentation increases effective sample diversity for all classes and reduces overfitting, particularly important for minority severity grades.</a:t>
            </a:r>
            <a:endParaRPr lang="en-US" sz="950" dirty="0"/>
          </a:p>
        </p:txBody>
      </p:sp>
      <p:sp>
        <p:nvSpPr>
          <p:cNvPr id="46" name="Shape 44"/>
          <p:cNvSpPr/>
          <p:nvPr/>
        </p:nvSpPr>
        <p:spPr>
          <a:xfrm>
            <a:off x="0" y="4983480"/>
            <a:ext cx="9144000" cy="160020"/>
          </a:xfrm>
          <a:prstGeom prst="rect">
            <a:avLst/>
          </a:prstGeom>
          <a:solidFill>
            <a:srgbClr val="D4F1EB"/>
          </a:solidFill>
          <a:ln w="12700">
            <a:solidFill>
              <a:srgbClr val="D4F1EB"/>
            </a:solidFill>
            <a:prstDash val="solid"/>
          </a:ln>
        </p:spPr>
      </p:sp>
      <p:sp>
        <p:nvSpPr>
          <p:cNvPr id="47" name="Text 45"/>
          <p:cNvSpPr/>
          <p:nvPr/>
        </p:nvSpPr>
        <p:spPr>
          <a:xfrm>
            <a:off x="274320" y="4983480"/>
            <a:ext cx="8595360" cy="160020"/>
          </a:xfrm>
          <a:prstGeom prst="rect">
            <a:avLst/>
          </a:prstGeom>
          <a:noFill/>
          <a:ln/>
        </p:spPr>
        <p:txBody>
          <a:bodyPr wrap="square" lIns="0" tIns="0" rIns="0" bIns="0" rtlCol="0" anchor="ctr"/>
          <a:lstStyle/>
          <a:p>
            <a:pPr marL="0" indent="0">
              <a:buNone/>
            </a:pP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Data Pipeline &amp; Augmentation Strategy</a:t>
            </a:r>
            <a:endParaRPr lang="en-US" sz="1700" dirty="0"/>
          </a:p>
        </p:txBody>
      </p:sp>
      <p:sp>
        <p:nvSpPr>
          <p:cNvPr id="4" name="Shape 2"/>
          <p:cNvSpPr/>
          <p:nvPr/>
        </p:nvSpPr>
        <p:spPr>
          <a:xfrm>
            <a:off x="182880" y="658368"/>
            <a:ext cx="1600200" cy="1188720"/>
          </a:xfrm>
          <a:prstGeom prst="rect">
            <a:avLst/>
          </a:prstGeom>
          <a:solidFill>
            <a:srgbClr val="EEF9F7"/>
          </a:solidFill>
          <a:ln w="15240">
            <a:solidFill>
              <a:srgbClr val="028090"/>
            </a:solidFill>
            <a:prstDash val="solid"/>
          </a:ln>
          <a:effectLst>
            <a:outerShdw blurRad="76200" dist="25400" dir="8100000" algn="bl" rotWithShape="0">
              <a:srgbClr val="000000">
                <a:alpha val="8000"/>
              </a:srgbClr>
            </a:outerShdw>
          </a:effectLst>
        </p:spPr>
      </p:sp>
      <p:sp>
        <p:nvSpPr>
          <p:cNvPr id="5" name="Shape 3"/>
          <p:cNvSpPr/>
          <p:nvPr/>
        </p:nvSpPr>
        <p:spPr>
          <a:xfrm>
            <a:off x="182880" y="658368"/>
            <a:ext cx="1600200" cy="347472"/>
          </a:xfrm>
          <a:prstGeom prst="rect">
            <a:avLst/>
          </a:prstGeom>
          <a:solidFill>
            <a:srgbClr val="028090"/>
          </a:solidFill>
          <a:ln w="12700">
            <a:solidFill>
              <a:srgbClr val="028090"/>
            </a:solidFill>
            <a:prstDash val="solid"/>
          </a:ln>
        </p:spPr>
      </p:sp>
      <p:sp>
        <p:nvSpPr>
          <p:cNvPr id="6" name="Text 4"/>
          <p:cNvSpPr/>
          <p:nvPr/>
        </p:nvSpPr>
        <p:spPr>
          <a:xfrm>
            <a:off x="182880" y="658368"/>
            <a:ext cx="16002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Load JSON</a:t>
            </a:r>
            <a:endParaRPr lang="en-US" sz="1100" dirty="0"/>
          </a:p>
        </p:txBody>
      </p:sp>
      <p:sp>
        <p:nvSpPr>
          <p:cNvPr id="7" name="Text 5"/>
          <p:cNvSpPr/>
          <p:nvPr/>
        </p:nvSpPr>
        <p:spPr>
          <a:xfrm>
            <a:off x="256032" y="1042416"/>
            <a:ext cx="1481328" cy="749808"/>
          </a:xfrm>
          <a:prstGeom prst="rect">
            <a:avLst/>
          </a:prstGeom>
          <a:noFill/>
          <a:ln/>
        </p:spPr>
        <p:txBody>
          <a:bodyPr wrap="square" rtlCol="0" anchor="ctr"/>
          <a:lstStyle/>
          <a:p>
            <a:pPr marL="0" indent="0" algn="ctr">
              <a:buNone/>
            </a:pPr>
            <a:r>
              <a:rPr lang="en-US" sz="900" dirty="0">
                <a:solidFill>
                  <a:srgbClr val="1C2B30"/>
                </a:solidFill>
                <a:latin typeface="Calibri" pitchFamily="34" charset="0"/>
                <a:ea typeface="Calibri" pitchFamily="34" charset="-122"/>
                <a:cs typeface="Calibri" pitchFamily="34" charset="-120"/>
              </a:rPr>
              <a:t>Read kidney_dataset.json, normalize image paths with os.path.normpath()</a:t>
            </a:r>
            <a:endParaRPr lang="en-US" sz="900" dirty="0"/>
          </a:p>
        </p:txBody>
      </p:sp>
      <p:sp>
        <p:nvSpPr>
          <p:cNvPr id="8" name="Text 6"/>
          <p:cNvSpPr/>
          <p:nvPr/>
        </p:nvSpPr>
        <p:spPr>
          <a:xfrm>
            <a:off x="1755648" y="1005840"/>
            <a:ext cx="201168" cy="365760"/>
          </a:xfrm>
          <a:prstGeom prst="rect">
            <a:avLst/>
          </a:prstGeom>
          <a:noFill/>
          <a:ln/>
        </p:spPr>
        <p:txBody>
          <a:bodyPr wrap="square" rtlCol="0" anchor="ctr"/>
          <a:lstStyle/>
          <a:p>
            <a:pPr marL="0" indent="0" algn="ctr">
              <a:buNone/>
            </a:pPr>
            <a:r>
              <a:rPr lang="en-US" sz="1600" b="1" dirty="0">
                <a:solidFill>
                  <a:srgbClr val="028090"/>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1947672" y="658368"/>
            <a:ext cx="1600200" cy="1188720"/>
          </a:xfrm>
          <a:prstGeom prst="rect">
            <a:avLst/>
          </a:prstGeom>
          <a:solidFill>
            <a:srgbClr val="FFFFFF"/>
          </a:solidFill>
          <a:ln w="15240">
            <a:solidFill>
              <a:srgbClr val="02A886"/>
            </a:solidFill>
            <a:prstDash val="solid"/>
          </a:ln>
          <a:effectLst>
            <a:outerShdw blurRad="76200" dist="25400" dir="8100000" algn="bl" rotWithShape="0">
              <a:srgbClr val="000000">
                <a:alpha val="8000"/>
              </a:srgbClr>
            </a:outerShdw>
          </a:effectLst>
        </p:spPr>
      </p:sp>
      <p:sp>
        <p:nvSpPr>
          <p:cNvPr id="10" name="Shape 8"/>
          <p:cNvSpPr/>
          <p:nvPr/>
        </p:nvSpPr>
        <p:spPr>
          <a:xfrm>
            <a:off x="1947672" y="658368"/>
            <a:ext cx="1600200" cy="347472"/>
          </a:xfrm>
          <a:prstGeom prst="rect">
            <a:avLst/>
          </a:prstGeom>
          <a:solidFill>
            <a:srgbClr val="02A886"/>
          </a:solidFill>
          <a:ln w="12700">
            <a:solidFill>
              <a:srgbClr val="02A886"/>
            </a:solidFill>
            <a:prstDash val="solid"/>
          </a:ln>
        </p:spPr>
      </p:sp>
      <p:sp>
        <p:nvSpPr>
          <p:cNvPr id="11" name="Text 9"/>
          <p:cNvSpPr/>
          <p:nvPr/>
        </p:nvSpPr>
        <p:spPr>
          <a:xfrm>
            <a:off x="1947672" y="658368"/>
            <a:ext cx="16002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Validate</a:t>
            </a:r>
            <a:endParaRPr lang="en-US" sz="1100" dirty="0"/>
          </a:p>
        </p:txBody>
      </p:sp>
      <p:sp>
        <p:nvSpPr>
          <p:cNvPr id="12" name="Text 10"/>
          <p:cNvSpPr/>
          <p:nvPr/>
        </p:nvSpPr>
        <p:spPr>
          <a:xfrm>
            <a:off x="2020824" y="1042416"/>
            <a:ext cx="1481328" cy="749808"/>
          </a:xfrm>
          <a:prstGeom prst="rect">
            <a:avLst/>
          </a:prstGeom>
          <a:noFill/>
          <a:ln/>
        </p:spPr>
        <p:txBody>
          <a:bodyPr wrap="square" rtlCol="0" anchor="ctr"/>
          <a:lstStyle/>
          <a:p>
            <a:pPr marL="0" indent="0" algn="ctr">
              <a:buNone/>
            </a:pPr>
            <a:r>
              <a:rPr lang="en-US" sz="900" dirty="0">
                <a:solidFill>
                  <a:srgbClr val="1C2B30"/>
                </a:solidFill>
                <a:latin typeface="Calibri" pitchFamily="34" charset="0"/>
                <a:ea typeface="Calibri" pitchFamily="34" charset="-122"/>
                <a:cs typeface="Calibri" pitchFamily="34" charset="-120"/>
              </a:rPr>
              <a:t>Remove missing files + corrupted images via PIL verify &amp; load</a:t>
            </a:r>
            <a:endParaRPr lang="en-US" sz="900" dirty="0"/>
          </a:p>
        </p:txBody>
      </p:sp>
      <p:sp>
        <p:nvSpPr>
          <p:cNvPr id="13" name="Text 11"/>
          <p:cNvSpPr/>
          <p:nvPr/>
        </p:nvSpPr>
        <p:spPr>
          <a:xfrm>
            <a:off x="3520440" y="1005840"/>
            <a:ext cx="201168" cy="365760"/>
          </a:xfrm>
          <a:prstGeom prst="rect">
            <a:avLst/>
          </a:prstGeom>
          <a:noFill/>
          <a:ln/>
        </p:spPr>
        <p:txBody>
          <a:bodyPr wrap="square" rtlCol="0" anchor="ctr"/>
          <a:lstStyle/>
          <a:p>
            <a:pPr marL="0" indent="0" algn="ctr">
              <a:buNone/>
            </a:pPr>
            <a:r>
              <a:rPr lang="en-US" sz="1600" b="1" dirty="0">
                <a:solidFill>
                  <a:srgbClr val="028090"/>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3712464" y="658368"/>
            <a:ext cx="1600200" cy="1188720"/>
          </a:xfrm>
          <a:prstGeom prst="rect">
            <a:avLst/>
          </a:prstGeom>
          <a:solidFill>
            <a:srgbClr val="EEF9F7"/>
          </a:solidFill>
          <a:ln w="15240">
            <a:solidFill>
              <a:srgbClr val="028090"/>
            </a:solidFill>
            <a:prstDash val="solid"/>
          </a:ln>
          <a:effectLst>
            <a:outerShdw blurRad="76200" dist="25400" dir="8100000" algn="bl" rotWithShape="0">
              <a:srgbClr val="000000">
                <a:alpha val="8000"/>
              </a:srgbClr>
            </a:outerShdw>
          </a:effectLst>
        </p:spPr>
      </p:sp>
      <p:sp>
        <p:nvSpPr>
          <p:cNvPr id="15" name="Shape 13"/>
          <p:cNvSpPr/>
          <p:nvPr/>
        </p:nvSpPr>
        <p:spPr>
          <a:xfrm>
            <a:off x="3712464" y="658368"/>
            <a:ext cx="1600200" cy="347472"/>
          </a:xfrm>
          <a:prstGeom prst="rect">
            <a:avLst/>
          </a:prstGeom>
          <a:solidFill>
            <a:srgbClr val="028090"/>
          </a:solidFill>
          <a:ln w="12700">
            <a:solidFill>
              <a:srgbClr val="028090"/>
            </a:solidFill>
            <a:prstDash val="solid"/>
          </a:ln>
        </p:spPr>
      </p:sp>
      <p:sp>
        <p:nvSpPr>
          <p:cNvPr id="16" name="Text 14"/>
          <p:cNvSpPr/>
          <p:nvPr/>
        </p:nvSpPr>
        <p:spPr>
          <a:xfrm>
            <a:off x="3712464" y="658368"/>
            <a:ext cx="16002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Slide Split</a:t>
            </a:r>
            <a:endParaRPr lang="en-US" sz="1100" dirty="0"/>
          </a:p>
        </p:txBody>
      </p:sp>
      <p:sp>
        <p:nvSpPr>
          <p:cNvPr id="17" name="Text 15"/>
          <p:cNvSpPr/>
          <p:nvPr/>
        </p:nvSpPr>
        <p:spPr>
          <a:xfrm>
            <a:off x="3785616" y="1042416"/>
            <a:ext cx="1481328" cy="749808"/>
          </a:xfrm>
          <a:prstGeom prst="rect">
            <a:avLst/>
          </a:prstGeom>
          <a:noFill/>
          <a:ln/>
        </p:spPr>
        <p:txBody>
          <a:bodyPr wrap="square" rtlCol="0" anchor="ctr"/>
          <a:lstStyle/>
          <a:p>
            <a:pPr marL="0" indent="0" algn="ctr">
              <a:buNone/>
            </a:pPr>
            <a:r>
              <a:rPr lang="en-US" sz="900" dirty="0">
                <a:solidFill>
                  <a:srgbClr val="1C2B30"/>
                </a:solidFill>
                <a:latin typeface="Calibri" pitchFamily="34" charset="0"/>
                <a:ea typeface="Calibri" pitchFamily="34" charset="-122"/>
                <a:cs typeface="Calibri" pitchFamily="34" charset="-120"/>
              </a:rPr>
              <a:t>GroupShuffleSplit: 80% Train / 10% Val / 10% Test by slide group</a:t>
            </a:r>
            <a:endParaRPr lang="en-US" sz="900" dirty="0"/>
          </a:p>
        </p:txBody>
      </p:sp>
      <p:sp>
        <p:nvSpPr>
          <p:cNvPr id="18" name="Text 16"/>
          <p:cNvSpPr/>
          <p:nvPr/>
        </p:nvSpPr>
        <p:spPr>
          <a:xfrm>
            <a:off x="5285232" y="1005840"/>
            <a:ext cx="201168" cy="365760"/>
          </a:xfrm>
          <a:prstGeom prst="rect">
            <a:avLst/>
          </a:prstGeom>
          <a:noFill/>
          <a:ln/>
        </p:spPr>
        <p:txBody>
          <a:bodyPr wrap="square" rtlCol="0" anchor="ctr"/>
          <a:lstStyle/>
          <a:p>
            <a:pPr marL="0" indent="0" algn="ctr">
              <a:buNone/>
            </a:pPr>
            <a:r>
              <a:rPr lang="en-US" sz="1600" b="1" dirty="0">
                <a:solidFill>
                  <a:srgbClr val="028090"/>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477256" y="658368"/>
            <a:ext cx="1600200" cy="1188720"/>
          </a:xfrm>
          <a:prstGeom prst="rect">
            <a:avLst/>
          </a:prstGeom>
          <a:solidFill>
            <a:srgbClr val="FFFFFF"/>
          </a:solidFill>
          <a:ln w="15240">
            <a:solidFill>
              <a:srgbClr val="02A886"/>
            </a:solidFill>
            <a:prstDash val="solid"/>
          </a:ln>
          <a:effectLst>
            <a:outerShdw blurRad="76200" dist="25400" dir="8100000" algn="bl" rotWithShape="0">
              <a:srgbClr val="000000">
                <a:alpha val="8000"/>
              </a:srgbClr>
            </a:outerShdw>
          </a:effectLst>
        </p:spPr>
      </p:sp>
      <p:sp>
        <p:nvSpPr>
          <p:cNvPr id="20" name="Shape 18"/>
          <p:cNvSpPr/>
          <p:nvPr/>
        </p:nvSpPr>
        <p:spPr>
          <a:xfrm>
            <a:off x="5477256" y="658368"/>
            <a:ext cx="1600200" cy="347472"/>
          </a:xfrm>
          <a:prstGeom prst="rect">
            <a:avLst/>
          </a:prstGeom>
          <a:solidFill>
            <a:srgbClr val="02A886"/>
          </a:solidFill>
          <a:ln w="12700">
            <a:solidFill>
              <a:srgbClr val="02A886"/>
            </a:solidFill>
            <a:prstDash val="solid"/>
          </a:ln>
        </p:spPr>
      </p:sp>
      <p:sp>
        <p:nvSpPr>
          <p:cNvPr id="21" name="Text 19"/>
          <p:cNvSpPr/>
          <p:nvPr/>
        </p:nvSpPr>
        <p:spPr>
          <a:xfrm>
            <a:off x="5477256" y="658368"/>
            <a:ext cx="16002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Generators</a:t>
            </a:r>
            <a:endParaRPr lang="en-US" sz="1100" dirty="0"/>
          </a:p>
        </p:txBody>
      </p:sp>
      <p:sp>
        <p:nvSpPr>
          <p:cNvPr id="22" name="Text 20"/>
          <p:cNvSpPr/>
          <p:nvPr/>
        </p:nvSpPr>
        <p:spPr>
          <a:xfrm>
            <a:off x="5550408" y="1042416"/>
            <a:ext cx="1481328" cy="749808"/>
          </a:xfrm>
          <a:prstGeom prst="rect">
            <a:avLst/>
          </a:prstGeom>
          <a:noFill/>
          <a:ln/>
        </p:spPr>
        <p:txBody>
          <a:bodyPr wrap="square" rtlCol="0" anchor="ctr"/>
          <a:lstStyle/>
          <a:p>
            <a:pPr marL="0" indent="0" algn="ctr">
              <a:buNone/>
            </a:pPr>
            <a:r>
              <a:rPr lang="en-US" sz="900" dirty="0">
                <a:solidFill>
                  <a:srgbClr val="1C2B30"/>
                </a:solidFill>
                <a:latin typeface="Calibri" pitchFamily="34" charset="0"/>
                <a:ea typeface="Calibri" pitchFamily="34" charset="-122"/>
                <a:cs typeface="Calibri" pitchFamily="34" charset="-120"/>
              </a:rPr>
              <a:t>flow_from_dataframe() for train (augmented) and val/test (rescale only)</a:t>
            </a:r>
            <a:endParaRPr lang="en-US" sz="900" dirty="0"/>
          </a:p>
        </p:txBody>
      </p:sp>
      <p:sp>
        <p:nvSpPr>
          <p:cNvPr id="23" name="Text 21"/>
          <p:cNvSpPr/>
          <p:nvPr/>
        </p:nvSpPr>
        <p:spPr>
          <a:xfrm>
            <a:off x="7050024" y="1005840"/>
            <a:ext cx="201168" cy="365760"/>
          </a:xfrm>
          <a:prstGeom prst="rect">
            <a:avLst/>
          </a:prstGeom>
          <a:noFill/>
          <a:ln/>
        </p:spPr>
        <p:txBody>
          <a:bodyPr wrap="square" rtlCol="0" anchor="ctr"/>
          <a:lstStyle/>
          <a:p>
            <a:pPr marL="0" indent="0" algn="ctr">
              <a:buNone/>
            </a:pPr>
            <a:r>
              <a:rPr lang="en-US" sz="1600" b="1" dirty="0">
                <a:solidFill>
                  <a:srgbClr val="028090"/>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7242048" y="658368"/>
            <a:ext cx="1600200" cy="1188720"/>
          </a:xfrm>
          <a:prstGeom prst="rect">
            <a:avLst/>
          </a:prstGeom>
          <a:solidFill>
            <a:srgbClr val="EEF9F7"/>
          </a:solidFill>
          <a:ln w="15240">
            <a:solidFill>
              <a:srgbClr val="028090"/>
            </a:solidFill>
            <a:prstDash val="solid"/>
          </a:ln>
          <a:effectLst>
            <a:outerShdw blurRad="76200" dist="25400" dir="8100000" algn="bl" rotWithShape="0">
              <a:srgbClr val="000000">
                <a:alpha val="8000"/>
              </a:srgbClr>
            </a:outerShdw>
          </a:effectLst>
        </p:spPr>
      </p:sp>
      <p:sp>
        <p:nvSpPr>
          <p:cNvPr id="25" name="Shape 23"/>
          <p:cNvSpPr/>
          <p:nvPr/>
        </p:nvSpPr>
        <p:spPr>
          <a:xfrm>
            <a:off x="7242048" y="658368"/>
            <a:ext cx="1600200" cy="347472"/>
          </a:xfrm>
          <a:prstGeom prst="rect">
            <a:avLst/>
          </a:prstGeom>
          <a:solidFill>
            <a:srgbClr val="028090"/>
          </a:solidFill>
          <a:ln w="12700">
            <a:solidFill>
              <a:srgbClr val="028090"/>
            </a:solidFill>
            <a:prstDash val="solid"/>
          </a:ln>
        </p:spPr>
      </p:sp>
      <p:sp>
        <p:nvSpPr>
          <p:cNvPr id="26" name="Text 24"/>
          <p:cNvSpPr/>
          <p:nvPr/>
        </p:nvSpPr>
        <p:spPr>
          <a:xfrm>
            <a:off x="7242048" y="658368"/>
            <a:ext cx="16002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TF Dataset</a:t>
            </a:r>
            <a:endParaRPr lang="en-US" sz="1100" dirty="0"/>
          </a:p>
        </p:txBody>
      </p:sp>
      <p:sp>
        <p:nvSpPr>
          <p:cNvPr id="27" name="Text 25"/>
          <p:cNvSpPr/>
          <p:nvPr/>
        </p:nvSpPr>
        <p:spPr>
          <a:xfrm>
            <a:off x="7315200" y="1042416"/>
            <a:ext cx="1481328" cy="749808"/>
          </a:xfrm>
          <a:prstGeom prst="rect">
            <a:avLst/>
          </a:prstGeom>
          <a:noFill/>
          <a:ln/>
        </p:spPr>
        <p:txBody>
          <a:bodyPr wrap="square" rtlCol="0" anchor="ctr"/>
          <a:lstStyle/>
          <a:p>
            <a:pPr marL="0" indent="0" algn="ctr">
              <a:buNone/>
            </a:pPr>
            <a:r>
              <a:rPr lang="en-US" sz="900" dirty="0">
                <a:solidFill>
                  <a:srgbClr val="1C2B30"/>
                </a:solidFill>
                <a:latin typeface="Calibri" pitchFamily="34" charset="0"/>
                <a:ea typeface="Calibri" pitchFamily="34" charset="-122"/>
                <a:cs typeface="Calibri" pitchFamily="34" charset="-120"/>
              </a:rPr>
              <a:t>tf.data.Dataset pipeline with .map().batch(32).prefetch(AUTOTUNE)</a:t>
            </a:r>
            <a:endParaRPr lang="en-US" sz="900" dirty="0"/>
          </a:p>
        </p:txBody>
      </p:sp>
      <p:sp>
        <p:nvSpPr>
          <p:cNvPr id="28" name="Shape 26"/>
          <p:cNvSpPr/>
          <p:nvPr/>
        </p:nvSpPr>
        <p:spPr>
          <a:xfrm>
            <a:off x="274320" y="1993392"/>
            <a:ext cx="4114800" cy="1673352"/>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29" name="Shape 27"/>
          <p:cNvSpPr/>
          <p:nvPr/>
        </p:nvSpPr>
        <p:spPr>
          <a:xfrm>
            <a:off x="274320" y="1993392"/>
            <a:ext cx="64008" cy="1554480"/>
          </a:xfrm>
          <a:prstGeom prst="rect">
            <a:avLst/>
          </a:prstGeom>
          <a:solidFill>
            <a:srgbClr val="028090"/>
          </a:solidFill>
          <a:ln w="12700">
            <a:solidFill>
              <a:srgbClr val="028090"/>
            </a:solidFill>
            <a:prstDash val="solid"/>
          </a:ln>
        </p:spPr>
      </p:sp>
      <p:sp>
        <p:nvSpPr>
          <p:cNvPr id="30" name="Text 28"/>
          <p:cNvSpPr/>
          <p:nvPr/>
        </p:nvSpPr>
        <p:spPr>
          <a:xfrm>
            <a:off x="457200" y="2039112"/>
            <a:ext cx="3749040" cy="320040"/>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Slide-wise Train / Val / Test Split</a:t>
            </a:r>
            <a:endParaRPr lang="en-US" sz="1200" dirty="0"/>
          </a:p>
        </p:txBody>
      </p:sp>
      <p:sp>
        <p:nvSpPr>
          <p:cNvPr id="31" name="Shape 29"/>
          <p:cNvSpPr/>
          <p:nvPr/>
        </p:nvSpPr>
        <p:spPr>
          <a:xfrm>
            <a:off x="457200" y="2441448"/>
            <a:ext cx="118872" cy="118872"/>
          </a:xfrm>
          <a:prstGeom prst="ellipse">
            <a:avLst/>
          </a:prstGeom>
          <a:solidFill>
            <a:srgbClr val="028090"/>
          </a:solidFill>
          <a:ln w="12700">
            <a:solidFill>
              <a:srgbClr val="028090"/>
            </a:solidFill>
            <a:prstDash val="solid"/>
          </a:ln>
        </p:spPr>
      </p:sp>
      <p:sp>
        <p:nvSpPr>
          <p:cNvPr id="32" name="Text 30"/>
          <p:cNvSpPr/>
          <p:nvPr/>
        </p:nvSpPr>
        <p:spPr>
          <a:xfrm>
            <a:off x="640080" y="2414016"/>
            <a:ext cx="1783080" cy="274320"/>
          </a:xfrm>
          <a:prstGeom prst="rect">
            <a:avLst/>
          </a:prstGeom>
          <a:noFill/>
          <a:ln/>
        </p:spPr>
        <p:txBody>
          <a:bodyPr wrap="square" rtlCol="0" anchor="ctr"/>
          <a:lstStyle/>
          <a:p>
            <a:pPr marL="0" indent="0">
              <a:buNone/>
            </a:pPr>
            <a:r>
              <a:rPr lang="en-US" sz="1050" b="1" dirty="0">
                <a:solidFill>
                  <a:srgbClr val="028090"/>
                </a:solidFill>
                <a:latin typeface="Calibri" pitchFamily="34" charset="0"/>
                <a:ea typeface="Calibri" pitchFamily="34" charset="-122"/>
                <a:cs typeface="Calibri" pitchFamily="34" charset="-120"/>
              </a:rPr>
              <a:t>Train Set (~80%)</a:t>
            </a:r>
            <a:endParaRPr lang="en-US" sz="1050" dirty="0"/>
          </a:p>
        </p:txBody>
      </p:sp>
      <p:sp>
        <p:nvSpPr>
          <p:cNvPr id="33" name="Text 31"/>
          <p:cNvSpPr/>
          <p:nvPr/>
        </p:nvSpPr>
        <p:spPr>
          <a:xfrm>
            <a:off x="2423160" y="2414016"/>
            <a:ext cx="1737360" cy="274320"/>
          </a:xfrm>
          <a:prstGeom prst="rect">
            <a:avLst/>
          </a:prstGeom>
          <a:noFill/>
          <a:ln/>
        </p:spPr>
        <p:txBody>
          <a:bodyPr wrap="square" rtlCol="0" anchor="ctr"/>
          <a:lstStyle/>
          <a:p>
            <a:pPr marL="0" indent="0">
              <a:buNone/>
            </a:pPr>
            <a:r>
              <a:rPr lang="en-US" sz="1050" dirty="0">
                <a:solidFill>
                  <a:srgbClr val="4A6B72"/>
                </a:solidFill>
                <a:latin typeface="Calibri" pitchFamily="34" charset="0"/>
                <a:ea typeface="Calibri" pitchFamily="34" charset="-122"/>
                <a:cs typeface="Calibri" pitchFamily="34" charset="-120"/>
              </a:rPr>
              <a:t>~1,844 samples</a:t>
            </a:r>
            <a:endParaRPr lang="en-US" sz="1050" dirty="0"/>
          </a:p>
        </p:txBody>
      </p:sp>
      <p:sp>
        <p:nvSpPr>
          <p:cNvPr id="34" name="Shape 32"/>
          <p:cNvSpPr/>
          <p:nvPr/>
        </p:nvSpPr>
        <p:spPr>
          <a:xfrm>
            <a:off x="457200" y="2779776"/>
            <a:ext cx="118872" cy="118872"/>
          </a:xfrm>
          <a:prstGeom prst="ellipse">
            <a:avLst/>
          </a:prstGeom>
          <a:solidFill>
            <a:srgbClr val="02A886"/>
          </a:solidFill>
          <a:ln w="12700">
            <a:solidFill>
              <a:srgbClr val="02A886"/>
            </a:solidFill>
            <a:prstDash val="solid"/>
          </a:ln>
        </p:spPr>
      </p:sp>
      <p:sp>
        <p:nvSpPr>
          <p:cNvPr id="35" name="Text 33"/>
          <p:cNvSpPr/>
          <p:nvPr/>
        </p:nvSpPr>
        <p:spPr>
          <a:xfrm>
            <a:off x="640080" y="2752344"/>
            <a:ext cx="1783080" cy="274320"/>
          </a:xfrm>
          <a:prstGeom prst="rect">
            <a:avLst/>
          </a:prstGeom>
          <a:noFill/>
          <a:ln/>
        </p:spPr>
        <p:txBody>
          <a:bodyPr wrap="square" rtlCol="0" anchor="ctr"/>
          <a:lstStyle/>
          <a:p>
            <a:pPr marL="0" indent="0">
              <a:buNone/>
            </a:pPr>
            <a:r>
              <a:rPr lang="en-US" sz="1050" b="1" dirty="0">
                <a:solidFill>
                  <a:srgbClr val="02A886"/>
                </a:solidFill>
                <a:latin typeface="Calibri" pitchFamily="34" charset="0"/>
                <a:ea typeface="Calibri" pitchFamily="34" charset="-122"/>
                <a:cs typeface="Calibri" pitchFamily="34" charset="-120"/>
              </a:rPr>
              <a:t>Validation Set (~10%)</a:t>
            </a:r>
            <a:endParaRPr lang="en-US" sz="1050" dirty="0"/>
          </a:p>
        </p:txBody>
      </p:sp>
      <p:sp>
        <p:nvSpPr>
          <p:cNvPr id="36" name="Text 34"/>
          <p:cNvSpPr/>
          <p:nvPr/>
        </p:nvSpPr>
        <p:spPr>
          <a:xfrm>
            <a:off x="2423160" y="2752344"/>
            <a:ext cx="1737360" cy="274320"/>
          </a:xfrm>
          <a:prstGeom prst="rect">
            <a:avLst/>
          </a:prstGeom>
          <a:noFill/>
          <a:ln/>
        </p:spPr>
        <p:txBody>
          <a:bodyPr wrap="square" rtlCol="0" anchor="ctr"/>
          <a:lstStyle/>
          <a:p>
            <a:pPr marL="0" indent="0">
              <a:buNone/>
            </a:pPr>
            <a:r>
              <a:rPr lang="en-US" sz="1050" dirty="0">
                <a:solidFill>
                  <a:srgbClr val="4A6B72"/>
                </a:solidFill>
                <a:latin typeface="Calibri" pitchFamily="34" charset="0"/>
                <a:ea typeface="Calibri" pitchFamily="34" charset="-122"/>
                <a:cs typeface="Calibri" pitchFamily="34" charset="-120"/>
              </a:rPr>
              <a:t>~231 samples</a:t>
            </a:r>
            <a:endParaRPr lang="en-US" sz="1050" dirty="0"/>
          </a:p>
        </p:txBody>
      </p:sp>
      <p:sp>
        <p:nvSpPr>
          <p:cNvPr id="37" name="Shape 35"/>
          <p:cNvSpPr/>
          <p:nvPr/>
        </p:nvSpPr>
        <p:spPr>
          <a:xfrm>
            <a:off x="457200" y="3118104"/>
            <a:ext cx="118872" cy="118872"/>
          </a:xfrm>
          <a:prstGeom prst="ellipse">
            <a:avLst/>
          </a:prstGeom>
          <a:solidFill>
            <a:srgbClr val="E85D04"/>
          </a:solidFill>
          <a:ln w="12700">
            <a:solidFill>
              <a:srgbClr val="E85D04"/>
            </a:solidFill>
            <a:prstDash val="solid"/>
          </a:ln>
        </p:spPr>
      </p:sp>
      <p:sp>
        <p:nvSpPr>
          <p:cNvPr id="38" name="Text 36"/>
          <p:cNvSpPr/>
          <p:nvPr/>
        </p:nvSpPr>
        <p:spPr>
          <a:xfrm>
            <a:off x="640080" y="3090672"/>
            <a:ext cx="1783080" cy="274320"/>
          </a:xfrm>
          <a:prstGeom prst="rect">
            <a:avLst/>
          </a:prstGeom>
          <a:noFill/>
          <a:ln/>
        </p:spPr>
        <p:txBody>
          <a:bodyPr wrap="square" rtlCol="0" anchor="ctr"/>
          <a:lstStyle/>
          <a:p>
            <a:pPr marL="0" indent="0">
              <a:buNone/>
            </a:pPr>
            <a:r>
              <a:rPr lang="en-US" sz="1050" b="1" dirty="0">
                <a:solidFill>
                  <a:srgbClr val="E85D04"/>
                </a:solidFill>
                <a:latin typeface="Calibri" pitchFamily="34" charset="0"/>
                <a:ea typeface="Calibri" pitchFamily="34" charset="-122"/>
                <a:cs typeface="Calibri" pitchFamily="34" charset="-120"/>
              </a:rPr>
              <a:t>Test Set (~10%)</a:t>
            </a:r>
            <a:endParaRPr lang="en-US" sz="1050" dirty="0"/>
          </a:p>
        </p:txBody>
      </p:sp>
      <p:sp>
        <p:nvSpPr>
          <p:cNvPr id="39" name="Text 37"/>
          <p:cNvSpPr/>
          <p:nvPr/>
        </p:nvSpPr>
        <p:spPr>
          <a:xfrm>
            <a:off x="2423160" y="3090672"/>
            <a:ext cx="1737360" cy="274320"/>
          </a:xfrm>
          <a:prstGeom prst="rect">
            <a:avLst/>
          </a:prstGeom>
          <a:noFill/>
          <a:ln/>
        </p:spPr>
        <p:txBody>
          <a:bodyPr wrap="square" rtlCol="0" anchor="ctr"/>
          <a:lstStyle/>
          <a:p>
            <a:pPr marL="0" indent="0">
              <a:buNone/>
            </a:pPr>
            <a:r>
              <a:rPr lang="en-US" sz="1050" dirty="0">
                <a:solidFill>
                  <a:srgbClr val="4A6B72"/>
                </a:solidFill>
                <a:latin typeface="Calibri" pitchFamily="34" charset="0"/>
                <a:ea typeface="Calibri" pitchFamily="34" charset="-122"/>
                <a:cs typeface="Calibri" pitchFamily="34" charset="-120"/>
              </a:rPr>
              <a:t>~230 samples</a:t>
            </a:r>
            <a:endParaRPr lang="en-US" sz="1050" dirty="0"/>
          </a:p>
        </p:txBody>
      </p:sp>
      <p:sp>
        <p:nvSpPr>
          <p:cNvPr id="40" name="Text 38"/>
          <p:cNvSpPr/>
          <p:nvPr/>
        </p:nvSpPr>
        <p:spPr>
          <a:xfrm>
            <a:off x="960120" y="3319272"/>
            <a:ext cx="3749040" cy="274320"/>
          </a:xfrm>
          <a:prstGeom prst="rect">
            <a:avLst/>
          </a:prstGeom>
          <a:noFill/>
          <a:ln/>
        </p:spPr>
        <p:txBody>
          <a:bodyPr wrap="square" rtlCol="0" anchor="ctr"/>
          <a:lstStyle/>
          <a:p>
            <a:pPr marL="0" indent="0">
              <a:buNone/>
            </a:pPr>
            <a:r>
              <a:rPr lang="en-US" sz="800" i="1" dirty="0">
                <a:solidFill>
                  <a:srgbClr val="4A6B72"/>
                </a:solidFill>
                <a:latin typeface="Calibri" pitchFamily="34" charset="0"/>
                <a:ea typeface="Calibri" pitchFamily="34" charset="-122"/>
                <a:cs typeface="Calibri" pitchFamily="34" charset="-120"/>
              </a:rPr>
              <a:t>GroupShuffleSplit ensures no slide appears in more than one split — critical for preventing data leakage and ensuring the model is tested on unseen tissue slides.</a:t>
            </a:r>
            <a:endParaRPr lang="en-US" sz="800" dirty="0"/>
          </a:p>
        </p:txBody>
      </p:sp>
      <p:sp>
        <p:nvSpPr>
          <p:cNvPr id="41" name="Shape 39"/>
          <p:cNvSpPr/>
          <p:nvPr/>
        </p:nvSpPr>
        <p:spPr>
          <a:xfrm>
            <a:off x="4663440" y="1993392"/>
            <a:ext cx="4206240" cy="1673352"/>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42" name="Shape 40"/>
          <p:cNvSpPr/>
          <p:nvPr/>
        </p:nvSpPr>
        <p:spPr>
          <a:xfrm>
            <a:off x="4663440" y="1993392"/>
            <a:ext cx="64008" cy="1554480"/>
          </a:xfrm>
          <a:prstGeom prst="rect">
            <a:avLst/>
          </a:prstGeom>
          <a:solidFill>
            <a:srgbClr val="02A886"/>
          </a:solidFill>
          <a:ln w="12700">
            <a:solidFill>
              <a:srgbClr val="02A886"/>
            </a:solidFill>
            <a:prstDash val="solid"/>
          </a:ln>
        </p:spPr>
      </p:sp>
      <p:sp>
        <p:nvSpPr>
          <p:cNvPr id="43" name="Text 41"/>
          <p:cNvSpPr/>
          <p:nvPr/>
        </p:nvSpPr>
        <p:spPr>
          <a:xfrm>
            <a:off x="4846320" y="2039112"/>
            <a:ext cx="3840480" cy="320040"/>
          </a:xfrm>
          <a:prstGeom prst="rect">
            <a:avLst/>
          </a:prstGeom>
          <a:noFill/>
          <a:ln/>
        </p:spPr>
        <p:txBody>
          <a:bodyPr wrap="square" rtlCol="0" anchor="ctr"/>
          <a:lstStyle/>
          <a:p>
            <a:pPr marL="0" indent="0">
              <a:buNone/>
            </a:pPr>
            <a:r>
              <a:rPr lang="en-US" sz="1200" b="1" dirty="0">
                <a:solidFill>
                  <a:srgbClr val="02A886"/>
                </a:solidFill>
                <a:latin typeface="Calibri" pitchFamily="34" charset="0"/>
                <a:ea typeface="Calibri" pitchFamily="34" charset="-122"/>
                <a:cs typeface="Calibri" pitchFamily="34" charset="-120"/>
              </a:rPr>
              <a:t>ImageDataGenerator Augmentation</a:t>
            </a:r>
            <a:endParaRPr lang="en-US" sz="1200" dirty="0"/>
          </a:p>
        </p:txBody>
      </p:sp>
      <p:sp>
        <p:nvSpPr>
          <p:cNvPr id="44" name="Text 42"/>
          <p:cNvSpPr/>
          <p:nvPr/>
        </p:nvSpPr>
        <p:spPr>
          <a:xfrm>
            <a:off x="4846320" y="2404872"/>
            <a:ext cx="1554480" cy="237744"/>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rotation_range: </a:t>
            </a:r>
            <a:endParaRPr lang="en-US" sz="950" dirty="0"/>
          </a:p>
        </p:txBody>
      </p:sp>
      <p:sp>
        <p:nvSpPr>
          <p:cNvPr id="45" name="Text 43"/>
          <p:cNvSpPr/>
          <p:nvPr/>
        </p:nvSpPr>
        <p:spPr>
          <a:xfrm>
            <a:off x="6400800" y="2404872"/>
            <a:ext cx="2377440" cy="237744"/>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20°  —  Random rotation up to ±20 degrees</a:t>
            </a:r>
            <a:endParaRPr lang="en-US" sz="950" dirty="0"/>
          </a:p>
        </p:txBody>
      </p:sp>
      <p:sp>
        <p:nvSpPr>
          <p:cNvPr id="46" name="Text 44"/>
          <p:cNvSpPr/>
          <p:nvPr/>
        </p:nvSpPr>
        <p:spPr>
          <a:xfrm>
            <a:off x="4846320" y="2670048"/>
            <a:ext cx="1554480" cy="237744"/>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width/height shift: </a:t>
            </a:r>
            <a:endParaRPr lang="en-US" sz="950" dirty="0"/>
          </a:p>
        </p:txBody>
      </p:sp>
      <p:sp>
        <p:nvSpPr>
          <p:cNvPr id="47" name="Text 45"/>
          <p:cNvSpPr/>
          <p:nvPr/>
        </p:nvSpPr>
        <p:spPr>
          <a:xfrm>
            <a:off x="6400800" y="2670048"/>
            <a:ext cx="2377440" cy="237744"/>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10%  —  Translate image up to 10% horizontally/vertically</a:t>
            </a:r>
            <a:endParaRPr lang="en-US" sz="950" dirty="0"/>
          </a:p>
        </p:txBody>
      </p:sp>
      <p:sp>
        <p:nvSpPr>
          <p:cNvPr id="48" name="Text 46"/>
          <p:cNvSpPr/>
          <p:nvPr/>
        </p:nvSpPr>
        <p:spPr>
          <a:xfrm>
            <a:off x="4846320" y="2935224"/>
            <a:ext cx="1554480" cy="237744"/>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zoom_range: </a:t>
            </a:r>
            <a:endParaRPr lang="en-US" sz="950" dirty="0"/>
          </a:p>
        </p:txBody>
      </p:sp>
      <p:sp>
        <p:nvSpPr>
          <p:cNvPr id="49" name="Text 47"/>
          <p:cNvSpPr/>
          <p:nvPr/>
        </p:nvSpPr>
        <p:spPr>
          <a:xfrm>
            <a:off x="6400800" y="2935224"/>
            <a:ext cx="2377440" cy="237744"/>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15%  —  Zoom in or out by up to 15%</a:t>
            </a:r>
            <a:endParaRPr lang="en-US" sz="950" dirty="0"/>
          </a:p>
        </p:txBody>
      </p:sp>
      <p:sp>
        <p:nvSpPr>
          <p:cNvPr id="50" name="Text 48"/>
          <p:cNvSpPr/>
          <p:nvPr/>
        </p:nvSpPr>
        <p:spPr>
          <a:xfrm>
            <a:off x="4846320" y="3200400"/>
            <a:ext cx="1554480" cy="237744"/>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horizontal_flip: </a:t>
            </a:r>
            <a:endParaRPr lang="en-US" sz="950" dirty="0"/>
          </a:p>
        </p:txBody>
      </p:sp>
      <p:sp>
        <p:nvSpPr>
          <p:cNvPr id="51" name="Text 49"/>
          <p:cNvSpPr/>
          <p:nvPr/>
        </p:nvSpPr>
        <p:spPr>
          <a:xfrm>
            <a:off x="6400800" y="3200400"/>
            <a:ext cx="2377440" cy="237744"/>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True  —  Randomly mirror images left-right</a:t>
            </a:r>
            <a:endParaRPr lang="en-US" sz="950" dirty="0"/>
          </a:p>
        </p:txBody>
      </p:sp>
      <p:sp>
        <p:nvSpPr>
          <p:cNvPr id="52" name="Text 50"/>
          <p:cNvSpPr/>
          <p:nvPr/>
        </p:nvSpPr>
        <p:spPr>
          <a:xfrm>
            <a:off x="4846320" y="3465576"/>
            <a:ext cx="1554480" cy="237744"/>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brightness_range: </a:t>
            </a:r>
            <a:endParaRPr lang="en-US" sz="950" dirty="0"/>
          </a:p>
        </p:txBody>
      </p:sp>
      <p:sp>
        <p:nvSpPr>
          <p:cNvPr id="53" name="Text 51"/>
          <p:cNvSpPr/>
          <p:nvPr/>
        </p:nvSpPr>
        <p:spPr>
          <a:xfrm>
            <a:off x="6400800" y="3465576"/>
            <a:ext cx="2377440" cy="237744"/>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a:t>
            </a:r>
            <a:r>
              <a:rPr lang="en-US" sz="800" dirty="0">
                <a:solidFill>
                  <a:srgbClr val="1C2B30"/>
                </a:solidFill>
                <a:latin typeface="Calibri" pitchFamily="34" charset="0"/>
                <a:ea typeface="Calibri" pitchFamily="34" charset="-122"/>
                <a:cs typeface="Calibri" pitchFamily="34" charset="-120"/>
              </a:rPr>
              <a:t>0.8–1.2]  —  Simulate varying stain intensities</a:t>
            </a:r>
            <a:endParaRPr lang="en-US" sz="800" dirty="0"/>
          </a:p>
        </p:txBody>
      </p:sp>
      <p:sp>
        <p:nvSpPr>
          <p:cNvPr id="54" name="Shape 52"/>
          <p:cNvSpPr/>
          <p:nvPr/>
        </p:nvSpPr>
        <p:spPr>
          <a:xfrm>
            <a:off x="274320" y="3657600"/>
            <a:ext cx="8595360" cy="1097280"/>
          </a:xfrm>
          <a:prstGeom prst="rect">
            <a:avLst/>
          </a:prstGeom>
          <a:solidFill>
            <a:srgbClr val="EEF9F7"/>
          </a:solidFill>
          <a:ln w="15240">
            <a:solidFill>
              <a:srgbClr val="C5E8E4"/>
            </a:solidFill>
            <a:prstDash val="solid"/>
          </a:ln>
          <a:effectLst>
            <a:outerShdw blurRad="76200" dist="25400" dir="8100000" algn="bl" rotWithShape="0">
              <a:srgbClr val="000000">
                <a:alpha val="8000"/>
              </a:srgbClr>
            </a:outerShdw>
          </a:effectLst>
        </p:spPr>
      </p:sp>
      <p:sp>
        <p:nvSpPr>
          <p:cNvPr id="55" name="Text 53"/>
          <p:cNvSpPr/>
          <p:nvPr/>
        </p:nvSpPr>
        <p:spPr>
          <a:xfrm>
            <a:off x="457200" y="3703320"/>
            <a:ext cx="8229600" cy="292608"/>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Important Notes on the Pipeline</a:t>
            </a:r>
            <a:endParaRPr lang="en-US" sz="1100" dirty="0"/>
          </a:p>
        </p:txBody>
      </p:sp>
      <p:sp>
        <p:nvSpPr>
          <p:cNvPr id="56" name="Shape 54"/>
          <p:cNvSpPr/>
          <p:nvPr/>
        </p:nvSpPr>
        <p:spPr>
          <a:xfrm>
            <a:off x="457200" y="4059936"/>
            <a:ext cx="118872" cy="118872"/>
          </a:xfrm>
          <a:prstGeom prst="ellipse">
            <a:avLst/>
          </a:prstGeom>
          <a:solidFill>
            <a:srgbClr val="028090"/>
          </a:solidFill>
          <a:ln w="12700">
            <a:solidFill>
              <a:srgbClr val="028090"/>
            </a:solidFill>
            <a:prstDash val="solid"/>
          </a:ln>
        </p:spPr>
      </p:sp>
      <p:sp>
        <p:nvSpPr>
          <p:cNvPr id="57" name="Text 55"/>
          <p:cNvSpPr/>
          <p:nvPr/>
        </p:nvSpPr>
        <p:spPr>
          <a:xfrm>
            <a:off x="640080" y="4032504"/>
            <a:ext cx="8138160" cy="21945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Augmentation is applied ONLY to the training set. Validation and test generators use rescale=1/255 only — no flips, crops, or rotations.</a:t>
            </a:r>
            <a:endParaRPr lang="en-US" sz="950" dirty="0"/>
          </a:p>
        </p:txBody>
      </p:sp>
      <p:sp>
        <p:nvSpPr>
          <p:cNvPr id="58" name="Shape 56"/>
          <p:cNvSpPr/>
          <p:nvPr/>
        </p:nvSpPr>
        <p:spPr>
          <a:xfrm>
            <a:off x="457200" y="4288536"/>
            <a:ext cx="118872" cy="118872"/>
          </a:xfrm>
          <a:prstGeom prst="ellipse">
            <a:avLst/>
          </a:prstGeom>
          <a:solidFill>
            <a:srgbClr val="028090"/>
          </a:solidFill>
          <a:ln w="12700">
            <a:solidFill>
              <a:srgbClr val="028090"/>
            </a:solidFill>
            <a:prstDash val="solid"/>
          </a:ln>
        </p:spPr>
      </p:sp>
      <p:sp>
        <p:nvSpPr>
          <p:cNvPr id="59" name="Text 57"/>
          <p:cNvSpPr/>
          <p:nvPr/>
        </p:nvSpPr>
        <p:spPr>
          <a:xfrm>
            <a:off x="640080" y="4261104"/>
            <a:ext cx="8138160" cy="21945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Images are resized to 224×224 pixels (RGB) to match the ImageNet pre-training resolution used by EfficientNet-B3 and ViT-B16.</a:t>
            </a:r>
            <a:endParaRPr lang="en-US" sz="950" dirty="0"/>
          </a:p>
        </p:txBody>
      </p:sp>
      <p:sp>
        <p:nvSpPr>
          <p:cNvPr id="60" name="Shape 58"/>
          <p:cNvSpPr/>
          <p:nvPr/>
        </p:nvSpPr>
        <p:spPr>
          <a:xfrm>
            <a:off x="457200" y="4517136"/>
            <a:ext cx="118872" cy="118872"/>
          </a:xfrm>
          <a:prstGeom prst="ellipse">
            <a:avLst/>
          </a:prstGeom>
          <a:solidFill>
            <a:srgbClr val="028090"/>
          </a:solidFill>
          <a:ln w="12700">
            <a:solidFill>
              <a:srgbClr val="028090"/>
            </a:solidFill>
            <a:prstDash val="solid"/>
          </a:ln>
        </p:spPr>
      </p:sp>
      <p:sp>
        <p:nvSpPr>
          <p:cNvPr id="61" name="Text 59"/>
          <p:cNvSpPr/>
          <p:nvPr/>
        </p:nvSpPr>
        <p:spPr>
          <a:xfrm>
            <a:off x="640080" y="4489704"/>
            <a:ext cx="8138160" cy="21945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fill_mode='nearest' is used to fill empty pixels created by shifts and rotations, avoiding black border artefacts around glomeruli patches.</a:t>
            </a:r>
            <a:endParaRPr lang="en-US" sz="950" dirty="0"/>
          </a:p>
        </p:txBody>
      </p:sp>
      <p:sp>
        <p:nvSpPr>
          <p:cNvPr id="62" name="Shape 60"/>
          <p:cNvSpPr/>
          <p:nvPr/>
        </p:nvSpPr>
        <p:spPr>
          <a:xfrm>
            <a:off x="0" y="4983480"/>
            <a:ext cx="9144000" cy="160020"/>
          </a:xfrm>
          <a:prstGeom prst="rect">
            <a:avLst/>
          </a:prstGeom>
          <a:solidFill>
            <a:srgbClr val="D4F1EB"/>
          </a:solidFill>
          <a:ln w="12700">
            <a:solidFill>
              <a:srgbClr val="D4F1EB"/>
            </a:solidFill>
            <a:prstDash val="solid"/>
          </a:ln>
        </p:spPr>
      </p:sp>
      <p:sp>
        <p:nvSpPr>
          <p:cNvPr id="63" name="Text 61"/>
          <p:cNvSpPr/>
          <p:nvPr/>
        </p:nvSpPr>
        <p:spPr>
          <a:xfrm>
            <a:off x="274320" y="4983480"/>
            <a:ext cx="8595360" cy="160020"/>
          </a:xfrm>
          <a:prstGeom prst="rect">
            <a:avLst/>
          </a:prstGeom>
          <a:noFill/>
          <a:ln/>
        </p:spPr>
        <p:txBody>
          <a:bodyPr wrap="square" lIns="0" tIns="0" rIns="0" bIns="0" rtlCol="0" anchor="ctr"/>
          <a:lstStyle/>
          <a:p>
            <a:pPr marL="0" indent="0">
              <a:buNone/>
            </a:pP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Model Architecture: Confidence Cascade</a:t>
            </a:r>
            <a:endParaRPr lang="en-US" sz="1700" dirty="0"/>
          </a:p>
        </p:txBody>
      </p:sp>
      <p:sp>
        <p:nvSpPr>
          <p:cNvPr id="4" name="Text 2"/>
          <p:cNvSpPr/>
          <p:nvPr/>
        </p:nvSpPr>
        <p:spPr>
          <a:xfrm>
            <a:off x="320040" y="521208"/>
            <a:ext cx="8503920" cy="274320"/>
          </a:xfrm>
          <a:prstGeom prst="rect">
            <a:avLst/>
          </a:prstGeom>
          <a:noFill/>
          <a:ln/>
        </p:spPr>
        <p:txBody>
          <a:bodyPr wrap="square" rtlCol="0" anchor="ctr"/>
          <a:lstStyle/>
          <a:p>
            <a:pPr marL="0" indent="0">
              <a:buNone/>
            </a:pPr>
            <a:r>
              <a:rPr lang="en-US" sz="1000" i="1" dirty="0">
                <a:solidFill>
                  <a:srgbClr val="4A6B72"/>
                </a:solidFill>
                <a:latin typeface="Calibri" pitchFamily="34" charset="0"/>
                <a:ea typeface="Calibri" pitchFamily="34" charset="-122"/>
                <a:cs typeface="Calibri" pitchFamily="34" charset="-120"/>
              </a:rPr>
              <a:t>n</a:t>
            </a:r>
            <a:endParaRPr lang="en-US" sz="1000" dirty="0"/>
          </a:p>
        </p:txBody>
      </p:sp>
      <p:sp>
        <p:nvSpPr>
          <p:cNvPr id="5" name="Shape 3"/>
          <p:cNvSpPr/>
          <p:nvPr/>
        </p:nvSpPr>
        <p:spPr>
          <a:xfrm>
            <a:off x="274320" y="658368"/>
            <a:ext cx="8595360" cy="896112"/>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6" name="Shape 4"/>
          <p:cNvSpPr/>
          <p:nvPr/>
        </p:nvSpPr>
        <p:spPr>
          <a:xfrm>
            <a:off x="274320" y="658368"/>
            <a:ext cx="64008" cy="896112"/>
          </a:xfrm>
          <a:prstGeom prst="rect">
            <a:avLst/>
          </a:prstGeom>
          <a:solidFill>
            <a:srgbClr val="E85D04"/>
          </a:solidFill>
          <a:ln w="12700">
            <a:solidFill>
              <a:srgbClr val="E85D04"/>
            </a:solidFill>
            <a:prstDash val="solid"/>
          </a:ln>
        </p:spPr>
      </p:sp>
      <p:sp>
        <p:nvSpPr>
          <p:cNvPr id="7" name="Text 5"/>
          <p:cNvSpPr/>
          <p:nvPr/>
        </p:nvSpPr>
        <p:spPr>
          <a:xfrm>
            <a:off x="457200" y="704088"/>
            <a:ext cx="8321040" cy="804672"/>
          </a:xfrm>
          <a:prstGeom prst="rect">
            <a:avLst/>
          </a:prstGeom>
          <a:noFill/>
          <a:ln/>
        </p:spPr>
        <p:txBody>
          <a:bodyPr wrap="square" rtlCol="0" anchor="ctr"/>
          <a:lstStyle/>
          <a:p>
            <a:pPr marL="0" indent="0">
              <a:spcAft>
                <a:spcPts val="300"/>
              </a:spcAft>
              <a:buNone/>
            </a:pPr>
            <a:r>
              <a:rPr lang="en-US" sz="1100" b="1" dirty="0">
                <a:solidFill>
                  <a:srgbClr val="E85D04"/>
                </a:solidFill>
                <a:latin typeface="Calibri" pitchFamily="34" charset="0"/>
                <a:ea typeface="Calibri" pitchFamily="34" charset="-122"/>
                <a:cs typeface="Calibri" pitchFamily="34" charset="-120"/>
              </a:rPr>
              <a:t>Core Idea: </a:t>
            </a:r>
            <a:r>
              <a:rPr lang="en-US" sz="1100" dirty="0">
                <a:solidFill>
                  <a:srgbClr val="1C2B30"/>
                </a:solidFill>
                <a:latin typeface="Calibri" pitchFamily="34" charset="0"/>
                <a:ea typeface="Calibri" pitchFamily="34" charset="-122"/>
                <a:cs typeface="Calibri" pitchFamily="34" charset="-120"/>
              </a:rPr>
              <a:t>Instead of relying on a single model for all predictions, the Confidence Cascade system uses a </a:t>
            </a:r>
            <a:r>
              <a:rPr lang="en-US" sz="1100" b="1" dirty="0">
                <a:solidFill>
                  <a:srgbClr val="028090"/>
                </a:solidFill>
                <a:latin typeface="Calibri" pitchFamily="34" charset="0"/>
                <a:ea typeface="Calibri" pitchFamily="34" charset="-122"/>
                <a:cs typeface="Calibri" pitchFamily="34" charset="-120"/>
              </a:rPr>
              <a:t>fast primary model (EfficientNet-B3) </a:t>
            </a:r>
            <a:r>
              <a:rPr lang="en-US" sz="1100" dirty="0">
                <a:solidFill>
                  <a:srgbClr val="1C2B30"/>
                </a:solidFill>
                <a:latin typeface="Calibri" pitchFamily="34" charset="0"/>
                <a:ea typeface="Calibri" pitchFamily="34" charset="-122"/>
                <a:cs typeface="Calibri" pitchFamily="34" charset="-120"/>
              </a:rPr>
              <a:t>to handle easy, high-confidence cases, then routes uncertain cases to a </a:t>
            </a:r>
            <a:r>
              <a:rPr lang="en-US" sz="1100" b="1" dirty="0">
                <a:solidFill>
                  <a:srgbClr val="02A886"/>
                </a:solidFill>
                <a:latin typeface="Calibri" pitchFamily="34" charset="0"/>
                <a:ea typeface="Calibri" pitchFamily="34" charset="-122"/>
                <a:cs typeface="Calibri" pitchFamily="34" charset="-120"/>
              </a:rPr>
              <a:t>stronger refiner model (ViT-B16) </a:t>
            </a:r>
            <a:r>
              <a:rPr lang="en-US" sz="1100" dirty="0">
                <a:solidFill>
                  <a:srgbClr val="1C2B30"/>
                </a:solidFill>
                <a:latin typeface="Calibri" pitchFamily="34" charset="0"/>
                <a:ea typeface="Calibri" pitchFamily="34" charset="-122"/>
                <a:cs typeface="Calibri" pitchFamily="34" charset="-120"/>
              </a:rPr>
              <a:t>for a second opinion. This mimics how a junior pathologist might escalate difficult cases to a senior specialist.</a:t>
            </a:r>
            <a:endParaRPr lang="en-US" sz="1100" dirty="0"/>
          </a:p>
        </p:txBody>
      </p:sp>
      <p:sp>
        <p:nvSpPr>
          <p:cNvPr id="8" name="Shape 6"/>
          <p:cNvSpPr/>
          <p:nvPr/>
        </p:nvSpPr>
        <p:spPr>
          <a:xfrm>
            <a:off x="274320" y="1691640"/>
            <a:ext cx="4114800" cy="2743200"/>
          </a:xfrm>
          <a:prstGeom prst="rect">
            <a:avLst/>
          </a:prstGeom>
          <a:solidFill>
            <a:srgbClr val="FFFFFF"/>
          </a:solidFill>
          <a:ln w="15240">
            <a:solidFill>
              <a:srgbClr val="028090"/>
            </a:solidFill>
            <a:prstDash val="solid"/>
          </a:ln>
          <a:effectLst>
            <a:outerShdw blurRad="76200" dist="25400" dir="8100000" algn="bl" rotWithShape="0">
              <a:srgbClr val="000000">
                <a:alpha val="8000"/>
              </a:srgbClr>
            </a:outerShdw>
          </a:effectLst>
        </p:spPr>
      </p:sp>
      <p:sp>
        <p:nvSpPr>
          <p:cNvPr id="9" name="Shape 7"/>
          <p:cNvSpPr/>
          <p:nvPr/>
        </p:nvSpPr>
        <p:spPr>
          <a:xfrm>
            <a:off x="274320" y="1691640"/>
            <a:ext cx="4114800" cy="384048"/>
          </a:xfrm>
          <a:prstGeom prst="rect">
            <a:avLst/>
          </a:prstGeom>
          <a:solidFill>
            <a:srgbClr val="028090"/>
          </a:solidFill>
          <a:ln w="12700">
            <a:solidFill>
              <a:srgbClr val="028090"/>
            </a:solidFill>
            <a:prstDash val="solid"/>
          </a:ln>
        </p:spPr>
      </p:sp>
      <p:sp>
        <p:nvSpPr>
          <p:cNvPr id="10" name="Text 8"/>
          <p:cNvSpPr/>
          <p:nvPr/>
        </p:nvSpPr>
        <p:spPr>
          <a:xfrm>
            <a:off x="320040" y="1691640"/>
            <a:ext cx="402336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PRIMARY MODEL — EfficientNet-B3</a:t>
            </a:r>
            <a:endParaRPr lang="en-US" sz="1100" dirty="0"/>
          </a:p>
        </p:txBody>
      </p:sp>
      <p:sp>
        <p:nvSpPr>
          <p:cNvPr id="11" name="Text 9"/>
          <p:cNvSpPr/>
          <p:nvPr/>
        </p:nvSpPr>
        <p:spPr>
          <a:xfrm>
            <a:off x="429768" y="2148840"/>
            <a:ext cx="1234440" cy="310896"/>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Architecture: </a:t>
            </a:r>
            <a:endParaRPr lang="en-US" sz="950" dirty="0"/>
          </a:p>
        </p:txBody>
      </p:sp>
      <p:sp>
        <p:nvSpPr>
          <p:cNvPr id="12" name="Text 10"/>
          <p:cNvSpPr/>
          <p:nvPr/>
        </p:nvSpPr>
        <p:spPr>
          <a:xfrm>
            <a:off x="1664208" y="2148840"/>
            <a:ext cx="260604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EfficientNet-B3 (ImageNet pretrained, top removed)</a:t>
            </a:r>
            <a:endParaRPr lang="en-US" sz="950" dirty="0"/>
          </a:p>
        </p:txBody>
      </p:sp>
      <p:sp>
        <p:nvSpPr>
          <p:cNvPr id="13" name="Text 11"/>
          <p:cNvSpPr/>
          <p:nvPr/>
        </p:nvSpPr>
        <p:spPr>
          <a:xfrm>
            <a:off x="429768" y="2505456"/>
            <a:ext cx="1234440" cy="310896"/>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Head: </a:t>
            </a:r>
            <a:endParaRPr lang="en-US" sz="950" dirty="0"/>
          </a:p>
        </p:txBody>
      </p:sp>
      <p:sp>
        <p:nvSpPr>
          <p:cNvPr id="14" name="Text 12"/>
          <p:cNvSpPr/>
          <p:nvPr/>
        </p:nvSpPr>
        <p:spPr>
          <a:xfrm>
            <a:off x="1664208" y="2505456"/>
            <a:ext cx="260604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GlobalAvgPool → BatchNorm → Dropout(0.3) → Dense(256, relu) → BatchNorm → Dropout(0.3) → Dense(4, softmax)</a:t>
            </a:r>
            <a:endParaRPr lang="en-US" sz="950" dirty="0"/>
          </a:p>
        </p:txBody>
      </p:sp>
      <p:sp>
        <p:nvSpPr>
          <p:cNvPr id="15" name="Text 13"/>
          <p:cNvSpPr/>
          <p:nvPr/>
        </p:nvSpPr>
        <p:spPr>
          <a:xfrm>
            <a:off x="429768" y="2862072"/>
            <a:ext cx="1234440" cy="310896"/>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Phase 1: </a:t>
            </a:r>
            <a:endParaRPr lang="en-US" sz="950" dirty="0"/>
          </a:p>
        </p:txBody>
      </p:sp>
      <p:sp>
        <p:nvSpPr>
          <p:cNvPr id="16" name="Text 14"/>
          <p:cNvSpPr/>
          <p:nvPr/>
        </p:nvSpPr>
        <p:spPr>
          <a:xfrm>
            <a:off x="1664208" y="2862072"/>
            <a:ext cx="260604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Base frozen, Adam lr=1e-3, 15 epochs, EarlyStopping + ReduceLROnPlateau</a:t>
            </a:r>
            <a:endParaRPr lang="en-US" sz="950" dirty="0"/>
          </a:p>
        </p:txBody>
      </p:sp>
      <p:sp>
        <p:nvSpPr>
          <p:cNvPr id="17" name="Text 15"/>
          <p:cNvSpPr/>
          <p:nvPr/>
        </p:nvSpPr>
        <p:spPr>
          <a:xfrm>
            <a:off x="429768" y="3218688"/>
            <a:ext cx="1234440" cy="310896"/>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Phase 2: </a:t>
            </a:r>
            <a:endParaRPr lang="en-US" sz="950" dirty="0"/>
          </a:p>
        </p:txBody>
      </p:sp>
      <p:sp>
        <p:nvSpPr>
          <p:cNvPr id="18" name="Text 16"/>
          <p:cNvSpPr/>
          <p:nvPr/>
        </p:nvSpPr>
        <p:spPr>
          <a:xfrm>
            <a:off x="1664208" y="3218688"/>
            <a:ext cx="260604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Unfreeze last 30 layers, Adam lr=1e-5, 15 epochs with ModelCheckpoint</a:t>
            </a:r>
            <a:endParaRPr lang="en-US" sz="950" dirty="0"/>
          </a:p>
        </p:txBody>
      </p:sp>
      <p:sp>
        <p:nvSpPr>
          <p:cNvPr id="19" name="Text 17"/>
          <p:cNvSpPr/>
          <p:nvPr/>
        </p:nvSpPr>
        <p:spPr>
          <a:xfrm>
            <a:off x="429768" y="3575304"/>
            <a:ext cx="1234440" cy="310896"/>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Role: </a:t>
            </a:r>
            <a:endParaRPr lang="en-US" sz="950" dirty="0"/>
          </a:p>
        </p:txBody>
      </p:sp>
      <p:sp>
        <p:nvSpPr>
          <p:cNvPr id="20" name="Text 18"/>
          <p:cNvSpPr/>
          <p:nvPr/>
        </p:nvSpPr>
        <p:spPr>
          <a:xfrm>
            <a:off x="1664208" y="3575304"/>
            <a:ext cx="260604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Fast inference on all samples. Predictions with max softmax ≥ 0.7 are accepted directly as final.</a:t>
            </a:r>
            <a:endParaRPr lang="en-US" sz="950" dirty="0"/>
          </a:p>
        </p:txBody>
      </p:sp>
      <p:sp>
        <p:nvSpPr>
          <p:cNvPr id="21" name="Text 19"/>
          <p:cNvSpPr/>
          <p:nvPr/>
        </p:nvSpPr>
        <p:spPr>
          <a:xfrm>
            <a:off x="429768" y="3931920"/>
            <a:ext cx="1234440" cy="310896"/>
          </a:xfrm>
          <a:prstGeom prst="rect">
            <a:avLst/>
          </a:prstGeom>
          <a:noFill/>
          <a:ln/>
        </p:spPr>
        <p:txBody>
          <a:bodyPr wrap="square"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Saved to: </a:t>
            </a:r>
            <a:endParaRPr lang="en-US" sz="950" dirty="0"/>
          </a:p>
        </p:txBody>
      </p:sp>
      <p:sp>
        <p:nvSpPr>
          <p:cNvPr id="22" name="Text 20"/>
          <p:cNvSpPr/>
          <p:nvPr/>
        </p:nvSpPr>
        <p:spPr>
          <a:xfrm>
            <a:off x="1664208" y="3931920"/>
            <a:ext cx="260604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checkpoints/primary_model_final.keras &amp; primary_best.keras</a:t>
            </a:r>
            <a:endParaRPr lang="en-US" sz="950" dirty="0"/>
          </a:p>
        </p:txBody>
      </p:sp>
      <p:sp>
        <p:nvSpPr>
          <p:cNvPr id="23" name="Shape 21"/>
          <p:cNvSpPr/>
          <p:nvPr/>
        </p:nvSpPr>
        <p:spPr>
          <a:xfrm>
            <a:off x="4754880" y="1691640"/>
            <a:ext cx="4114800" cy="2743200"/>
          </a:xfrm>
          <a:prstGeom prst="rect">
            <a:avLst/>
          </a:prstGeom>
          <a:solidFill>
            <a:srgbClr val="FFFFFF"/>
          </a:solidFill>
          <a:ln w="15240">
            <a:solidFill>
              <a:srgbClr val="02A886"/>
            </a:solidFill>
            <a:prstDash val="solid"/>
          </a:ln>
          <a:effectLst>
            <a:outerShdw blurRad="76200" dist="25400" dir="8100000" algn="bl" rotWithShape="0">
              <a:srgbClr val="000000">
                <a:alpha val="8000"/>
              </a:srgbClr>
            </a:outerShdw>
          </a:effectLst>
        </p:spPr>
      </p:sp>
      <p:sp>
        <p:nvSpPr>
          <p:cNvPr id="24" name="Shape 22"/>
          <p:cNvSpPr/>
          <p:nvPr/>
        </p:nvSpPr>
        <p:spPr>
          <a:xfrm>
            <a:off x="4754880" y="1691640"/>
            <a:ext cx="4114800" cy="384048"/>
          </a:xfrm>
          <a:prstGeom prst="rect">
            <a:avLst/>
          </a:prstGeom>
          <a:solidFill>
            <a:srgbClr val="02A886"/>
          </a:solidFill>
          <a:ln w="12700">
            <a:solidFill>
              <a:srgbClr val="02A886"/>
            </a:solidFill>
            <a:prstDash val="solid"/>
          </a:ln>
        </p:spPr>
      </p:sp>
      <p:sp>
        <p:nvSpPr>
          <p:cNvPr id="25" name="Text 23"/>
          <p:cNvSpPr/>
          <p:nvPr/>
        </p:nvSpPr>
        <p:spPr>
          <a:xfrm>
            <a:off x="4800600" y="1691640"/>
            <a:ext cx="402336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REFINER MODEL — Vision Transformer (ViT-B16)</a:t>
            </a:r>
            <a:endParaRPr lang="en-US" sz="1100" dirty="0"/>
          </a:p>
        </p:txBody>
      </p:sp>
      <p:sp>
        <p:nvSpPr>
          <p:cNvPr id="26" name="Text 24"/>
          <p:cNvSpPr/>
          <p:nvPr/>
        </p:nvSpPr>
        <p:spPr>
          <a:xfrm>
            <a:off x="4910328" y="2148840"/>
            <a:ext cx="1234440" cy="310896"/>
          </a:xfrm>
          <a:prstGeom prst="rect">
            <a:avLst/>
          </a:prstGeom>
          <a:noFill/>
          <a:ln/>
        </p:spPr>
        <p:txBody>
          <a:bodyPr wrap="square" rtlCol="0" anchor="ctr"/>
          <a:lstStyle/>
          <a:p>
            <a:pPr marL="0" indent="0">
              <a:buNone/>
            </a:pPr>
            <a:r>
              <a:rPr lang="en-US" sz="950" b="1" dirty="0">
                <a:solidFill>
                  <a:srgbClr val="02A886"/>
                </a:solidFill>
                <a:latin typeface="Calibri" pitchFamily="34" charset="0"/>
                <a:ea typeface="Calibri" pitchFamily="34" charset="-122"/>
                <a:cs typeface="Calibri" pitchFamily="34" charset="-120"/>
              </a:rPr>
              <a:t>Architecture: </a:t>
            </a:r>
            <a:endParaRPr lang="en-US" sz="950" dirty="0"/>
          </a:p>
        </p:txBody>
      </p:sp>
      <p:sp>
        <p:nvSpPr>
          <p:cNvPr id="27" name="Text 25"/>
          <p:cNvSpPr/>
          <p:nvPr/>
        </p:nvSpPr>
        <p:spPr>
          <a:xfrm>
            <a:off x="6144768" y="2148840"/>
            <a:ext cx="2606040" cy="310896"/>
          </a:xfrm>
          <a:prstGeom prst="rect">
            <a:avLst/>
          </a:prstGeom>
          <a:noFill/>
          <a:ln/>
        </p:spPr>
        <p:txBody>
          <a:bodyPr wrap="square" rtlCol="0" anchor="ctr"/>
          <a:lstStyle/>
          <a:p>
            <a:pPr marL="0" indent="0">
              <a:buNone/>
            </a:pPr>
            <a:r>
              <a:rPr lang="en-US" sz="800" dirty="0">
                <a:solidFill>
                  <a:srgbClr val="1C2B30"/>
                </a:solidFill>
                <a:latin typeface="Calibri" pitchFamily="34" charset="0"/>
                <a:ea typeface="Calibri" pitchFamily="34" charset="-122"/>
                <a:cs typeface="Calibri" pitchFamily="34" charset="-120"/>
              </a:rPr>
              <a:t>ViT-B16 via vit-keras (ImageNet pretrained, top removed)</a:t>
            </a:r>
            <a:endParaRPr lang="en-US" sz="800" dirty="0"/>
          </a:p>
        </p:txBody>
      </p:sp>
      <p:sp>
        <p:nvSpPr>
          <p:cNvPr id="28" name="Text 26"/>
          <p:cNvSpPr/>
          <p:nvPr/>
        </p:nvSpPr>
        <p:spPr>
          <a:xfrm>
            <a:off x="4910328" y="2505456"/>
            <a:ext cx="1234440" cy="310896"/>
          </a:xfrm>
          <a:prstGeom prst="rect">
            <a:avLst/>
          </a:prstGeom>
          <a:noFill/>
          <a:ln/>
        </p:spPr>
        <p:txBody>
          <a:bodyPr wrap="square" rtlCol="0" anchor="ctr"/>
          <a:lstStyle/>
          <a:p>
            <a:pPr marL="0" indent="0">
              <a:buNone/>
            </a:pPr>
            <a:r>
              <a:rPr lang="en-US" sz="950" b="1" dirty="0">
                <a:solidFill>
                  <a:srgbClr val="02A886"/>
                </a:solidFill>
                <a:latin typeface="Calibri" pitchFamily="34" charset="0"/>
                <a:ea typeface="Calibri" pitchFamily="34" charset="-122"/>
                <a:cs typeface="Calibri" pitchFamily="34" charset="-120"/>
              </a:rPr>
              <a:t>Head: </a:t>
            </a:r>
            <a:endParaRPr lang="en-US" sz="950" dirty="0"/>
          </a:p>
        </p:txBody>
      </p:sp>
      <p:sp>
        <p:nvSpPr>
          <p:cNvPr id="29" name="Text 27"/>
          <p:cNvSpPr/>
          <p:nvPr/>
        </p:nvSpPr>
        <p:spPr>
          <a:xfrm>
            <a:off x="6144768" y="2505456"/>
            <a:ext cx="260604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Flatten → BatchNorm → Dropout(0.4) → Dense(512, relu) → BatchNorm → Dropout(0.4) </a:t>
            </a:r>
            <a:r>
              <a:rPr lang="en-US" sz="800" dirty="0">
                <a:solidFill>
                  <a:srgbClr val="1C2B30"/>
                </a:solidFill>
                <a:latin typeface="Calibri" pitchFamily="34" charset="0"/>
                <a:ea typeface="Calibri" pitchFamily="34" charset="-122"/>
                <a:cs typeface="Calibri" pitchFamily="34" charset="-120"/>
              </a:rPr>
              <a:t>→ Dense(256, relu) → Dropout(0.3) → Dense(4, softmax</a:t>
            </a:r>
            <a:r>
              <a:rPr lang="en-US" sz="950" dirty="0">
                <a:solidFill>
                  <a:srgbClr val="1C2B30"/>
                </a:solidFill>
                <a:latin typeface="Calibri" pitchFamily="34" charset="0"/>
                <a:ea typeface="Calibri" pitchFamily="34" charset="-122"/>
                <a:cs typeface="Calibri" pitchFamily="34" charset="-120"/>
              </a:rPr>
              <a:t>)</a:t>
            </a:r>
            <a:endParaRPr lang="en-US" sz="950" dirty="0"/>
          </a:p>
        </p:txBody>
      </p:sp>
      <p:sp>
        <p:nvSpPr>
          <p:cNvPr id="30" name="Text 28"/>
          <p:cNvSpPr/>
          <p:nvPr/>
        </p:nvSpPr>
        <p:spPr>
          <a:xfrm>
            <a:off x="4910328" y="2862072"/>
            <a:ext cx="1234440" cy="310896"/>
          </a:xfrm>
          <a:prstGeom prst="rect">
            <a:avLst/>
          </a:prstGeom>
          <a:noFill/>
          <a:ln/>
        </p:spPr>
        <p:txBody>
          <a:bodyPr wrap="square" rtlCol="0" anchor="ctr"/>
          <a:lstStyle/>
          <a:p>
            <a:pPr marL="0" indent="0">
              <a:buNone/>
            </a:pPr>
            <a:r>
              <a:rPr lang="en-US" sz="950" b="1" dirty="0">
                <a:solidFill>
                  <a:srgbClr val="02A886"/>
                </a:solidFill>
                <a:latin typeface="Calibri" pitchFamily="34" charset="0"/>
                <a:ea typeface="Calibri" pitchFamily="34" charset="-122"/>
                <a:cs typeface="Calibri" pitchFamily="34" charset="-120"/>
              </a:rPr>
              <a:t>Phase 1: </a:t>
            </a:r>
            <a:endParaRPr lang="en-US" sz="950" dirty="0"/>
          </a:p>
        </p:txBody>
      </p:sp>
      <p:sp>
        <p:nvSpPr>
          <p:cNvPr id="31" name="Text 29"/>
          <p:cNvSpPr/>
          <p:nvPr/>
        </p:nvSpPr>
        <p:spPr>
          <a:xfrm>
            <a:off x="6144768" y="2862072"/>
            <a:ext cx="260604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Base frozen, Adam lr=1e-3, 15 epochs, EarlyStopping + ReduceLROnPlateau</a:t>
            </a:r>
            <a:endParaRPr lang="en-US" sz="950" dirty="0"/>
          </a:p>
        </p:txBody>
      </p:sp>
      <p:sp>
        <p:nvSpPr>
          <p:cNvPr id="32" name="Text 30"/>
          <p:cNvSpPr/>
          <p:nvPr/>
        </p:nvSpPr>
        <p:spPr>
          <a:xfrm>
            <a:off x="4910328" y="3218688"/>
            <a:ext cx="1234440" cy="310896"/>
          </a:xfrm>
          <a:prstGeom prst="rect">
            <a:avLst/>
          </a:prstGeom>
          <a:noFill/>
          <a:ln/>
        </p:spPr>
        <p:txBody>
          <a:bodyPr wrap="square" rtlCol="0" anchor="ctr"/>
          <a:lstStyle/>
          <a:p>
            <a:pPr marL="0" indent="0">
              <a:buNone/>
            </a:pPr>
            <a:r>
              <a:rPr lang="en-US" sz="950" b="1" dirty="0">
                <a:solidFill>
                  <a:srgbClr val="02A886"/>
                </a:solidFill>
                <a:latin typeface="Calibri" pitchFamily="34" charset="0"/>
                <a:ea typeface="Calibri" pitchFamily="34" charset="-122"/>
                <a:cs typeface="Calibri" pitchFamily="34" charset="-120"/>
              </a:rPr>
              <a:t>Phase 2: </a:t>
            </a:r>
            <a:endParaRPr lang="en-US" sz="950" dirty="0"/>
          </a:p>
        </p:txBody>
      </p:sp>
      <p:sp>
        <p:nvSpPr>
          <p:cNvPr id="33" name="Text 31"/>
          <p:cNvSpPr/>
          <p:nvPr/>
        </p:nvSpPr>
        <p:spPr>
          <a:xfrm>
            <a:off x="6144768" y="3218688"/>
            <a:ext cx="260604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Unfreeze last 10 transformer blocks, Adam lr=1e-5, 15 epochs</a:t>
            </a:r>
            <a:endParaRPr lang="en-US" sz="950" dirty="0"/>
          </a:p>
        </p:txBody>
      </p:sp>
      <p:sp>
        <p:nvSpPr>
          <p:cNvPr id="34" name="Text 32"/>
          <p:cNvSpPr/>
          <p:nvPr/>
        </p:nvSpPr>
        <p:spPr>
          <a:xfrm>
            <a:off x="4910328" y="3575304"/>
            <a:ext cx="1234440" cy="310896"/>
          </a:xfrm>
          <a:prstGeom prst="rect">
            <a:avLst/>
          </a:prstGeom>
          <a:noFill/>
          <a:ln/>
        </p:spPr>
        <p:txBody>
          <a:bodyPr wrap="square" rtlCol="0" anchor="ctr"/>
          <a:lstStyle/>
          <a:p>
            <a:pPr marL="0" indent="0">
              <a:buNone/>
            </a:pPr>
            <a:r>
              <a:rPr lang="en-US" sz="950" b="1" dirty="0">
                <a:solidFill>
                  <a:srgbClr val="02A886"/>
                </a:solidFill>
                <a:latin typeface="Calibri" pitchFamily="34" charset="0"/>
                <a:ea typeface="Calibri" pitchFamily="34" charset="-122"/>
                <a:cs typeface="Calibri" pitchFamily="34" charset="-120"/>
              </a:rPr>
              <a:t>Role: </a:t>
            </a:r>
            <a:endParaRPr lang="en-US" sz="950" dirty="0"/>
          </a:p>
        </p:txBody>
      </p:sp>
      <p:sp>
        <p:nvSpPr>
          <p:cNvPr id="35" name="Text 33"/>
          <p:cNvSpPr/>
          <p:nvPr/>
        </p:nvSpPr>
        <p:spPr>
          <a:xfrm>
            <a:off x="6144768" y="3575304"/>
            <a:ext cx="260604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Handles only low-confidence samples (max softmax &lt; 0.7) from primary. Replaces primary predictions for these cases.</a:t>
            </a:r>
            <a:endParaRPr lang="en-US" sz="950" dirty="0"/>
          </a:p>
        </p:txBody>
      </p:sp>
      <p:sp>
        <p:nvSpPr>
          <p:cNvPr id="36" name="Text 34"/>
          <p:cNvSpPr/>
          <p:nvPr/>
        </p:nvSpPr>
        <p:spPr>
          <a:xfrm>
            <a:off x="4910328" y="3931920"/>
            <a:ext cx="1234440" cy="310896"/>
          </a:xfrm>
          <a:prstGeom prst="rect">
            <a:avLst/>
          </a:prstGeom>
          <a:noFill/>
          <a:ln/>
        </p:spPr>
        <p:txBody>
          <a:bodyPr wrap="square" rtlCol="0" anchor="ctr"/>
          <a:lstStyle/>
          <a:p>
            <a:pPr marL="0" indent="0">
              <a:buNone/>
            </a:pPr>
            <a:r>
              <a:rPr lang="en-US" sz="950" b="1" dirty="0">
                <a:solidFill>
                  <a:srgbClr val="02A886"/>
                </a:solidFill>
                <a:latin typeface="Calibri" pitchFamily="34" charset="0"/>
                <a:ea typeface="Calibri" pitchFamily="34" charset="-122"/>
                <a:cs typeface="Calibri" pitchFamily="34" charset="-120"/>
              </a:rPr>
              <a:t>Saved to: </a:t>
            </a:r>
            <a:endParaRPr lang="en-US" sz="950" dirty="0"/>
          </a:p>
        </p:txBody>
      </p:sp>
      <p:sp>
        <p:nvSpPr>
          <p:cNvPr id="37" name="Text 35"/>
          <p:cNvSpPr/>
          <p:nvPr/>
        </p:nvSpPr>
        <p:spPr>
          <a:xfrm>
            <a:off x="6144768" y="3931920"/>
            <a:ext cx="260604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checkpoints/refiner_model_final.keras &amp; refiner_best.keras</a:t>
            </a:r>
            <a:endParaRPr lang="en-US" sz="950" dirty="0"/>
          </a:p>
        </p:txBody>
      </p:sp>
      <p:sp>
        <p:nvSpPr>
          <p:cNvPr id="38" name="Shape 36"/>
          <p:cNvSpPr/>
          <p:nvPr/>
        </p:nvSpPr>
        <p:spPr>
          <a:xfrm>
            <a:off x="274320" y="4581144"/>
            <a:ext cx="8595360" cy="320040"/>
          </a:xfrm>
          <a:prstGeom prst="rect">
            <a:avLst/>
          </a:prstGeom>
          <a:solidFill>
            <a:srgbClr val="FFF1E6"/>
          </a:solidFill>
          <a:ln w="15240">
            <a:solidFill>
              <a:srgbClr val="E85D04"/>
            </a:solidFill>
            <a:prstDash val="solid"/>
          </a:ln>
          <a:effectLst>
            <a:outerShdw blurRad="76200" dist="25400" dir="8100000" algn="bl" rotWithShape="0">
              <a:srgbClr val="000000">
                <a:alpha val="8000"/>
              </a:srgbClr>
            </a:outerShdw>
          </a:effectLst>
        </p:spPr>
      </p:sp>
      <p:sp>
        <p:nvSpPr>
          <p:cNvPr id="39" name="Text 37"/>
          <p:cNvSpPr/>
          <p:nvPr/>
        </p:nvSpPr>
        <p:spPr>
          <a:xfrm>
            <a:off x="411480" y="4581144"/>
            <a:ext cx="8321040" cy="320040"/>
          </a:xfrm>
          <a:prstGeom prst="rect">
            <a:avLst/>
          </a:prstGeom>
          <a:noFill/>
          <a:ln/>
        </p:spPr>
        <p:txBody>
          <a:bodyPr wrap="square" lIns="0" tIns="0" rIns="0" bIns="0" rtlCol="0" anchor="ctr"/>
          <a:lstStyle/>
          <a:p>
            <a:pPr marL="0" indent="0" algn="ctr">
              <a:buNone/>
            </a:pPr>
            <a:r>
              <a:rPr lang="en-US" sz="1000" b="1" dirty="0">
                <a:solidFill>
                  <a:srgbClr val="E85D04"/>
                </a:solidFill>
                <a:latin typeface="Calibri" pitchFamily="34" charset="0"/>
                <a:ea typeface="Calibri" pitchFamily="34" charset="-122"/>
                <a:cs typeface="Calibri" pitchFamily="34" charset="-120"/>
              </a:rPr>
              <a:t>Confidence Threshold = 0.7  |  If max softmax probability ≥ 0.7 → accept primary prediction  |  If &lt; 0.7 → escalate to ViT refiner</a:t>
            </a:r>
            <a:endParaRPr lang="en-US" sz="1000" dirty="0"/>
          </a:p>
        </p:txBody>
      </p:sp>
      <p:sp>
        <p:nvSpPr>
          <p:cNvPr id="40" name="Shape 38"/>
          <p:cNvSpPr/>
          <p:nvPr/>
        </p:nvSpPr>
        <p:spPr>
          <a:xfrm>
            <a:off x="0" y="4983480"/>
            <a:ext cx="9144000" cy="160020"/>
          </a:xfrm>
          <a:prstGeom prst="rect">
            <a:avLst/>
          </a:prstGeom>
          <a:solidFill>
            <a:srgbClr val="D4F1EB"/>
          </a:solidFill>
          <a:ln w="12700">
            <a:solidFill>
              <a:srgbClr val="D4F1EB"/>
            </a:solidFill>
            <a:prstDash val="solid"/>
          </a:ln>
        </p:spPr>
      </p:sp>
      <p:sp>
        <p:nvSpPr>
          <p:cNvPr id="41" name="Text 39"/>
          <p:cNvSpPr/>
          <p:nvPr/>
        </p:nvSpPr>
        <p:spPr>
          <a:xfrm>
            <a:off x="274320" y="4983480"/>
            <a:ext cx="8595360" cy="160020"/>
          </a:xfrm>
          <a:prstGeom prst="rect">
            <a:avLst/>
          </a:prstGeom>
          <a:noFill/>
          <a:ln/>
        </p:spPr>
        <p:txBody>
          <a:bodyPr wrap="square" lIns="0" tIns="0" rIns="0" bIns="0" rtlCol="0" anchor="ctr"/>
          <a:lstStyle/>
          <a:p>
            <a:pPr marL="0" indent="0">
              <a:buNone/>
            </a:pP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Training Configuration &amp; Callbacks</a:t>
            </a:r>
            <a:endParaRPr lang="en-US" sz="1700" dirty="0"/>
          </a:p>
        </p:txBody>
      </p:sp>
      <p:sp>
        <p:nvSpPr>
          <p:cNvPr id="4" name="Text 2"/>
          <p:cNvSpPr/>
          <p:nvPr/>
        </p:nvSpPr>
        <p:spPr>
          <a:xfrm>
            <a:off x="320040" y="521208"/>
            <a:ext cx="8503920" cy="274320"/>
          </a:xfrm>
          <a:prstGeom prst="rect">
            <a:avLst/>
          </a:prstGeom>
          <a:noFill/>
          <a:ln/>
        </p:spPr>
        <p:txBody>
          <a:bodyPr wrap="square" rtlCol="0" anchor="ctr"/>
          <a:lstStyle/>
          <a:p>
            <a:pPr marL="0" indent="0">
              <a:buNone/>
            </a:pPr>
            <a:r>
              <a:rPr lang="en-US" sz="1000" i="1" dirty="0">
                <a:solidFill>
                  <a:srgbClr val="4A6B72"/>
                </a:solidFill>
                <a:latin typeface="Calibri" pitchFamily="34" charset="0"/>
                <a:ea typeface="Calibri" pitchFamily="34" charset="-122"/>
                <a:cs typeface="Calibri" pitchFamily="34" charset="-120"/>
              </a:rPr>
              <a:t>Two-phase transfer learning strategy applied to both models</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3606673691"/>
              </p:ext>
            </p:extLst>
          </p:nvPr>
        </p:nvGraphicFramePr>
        <p:xfrm>
          <a:off x="274320" y="515402"/>
          <a:ext cx="8595360" cy="2121408"/>
        </p:xfrm>
        <a:graphic>
          <a:graphicData uri="http://schemas.openxmlformats.org/drawingml/2006/table">
            <a:tbl>
              <a:tblPr/>
              <a:tblGrid>
                <a:gridCol w="2011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265176">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Configuration</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solidFill>
                      <a:srgbClr val="02809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Phase 1 — Transfer Learning</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solidFill>
                      <a:srgbClr val="028090"/>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Phase 2 — Fine-tuning</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solidFill>
                      <a:srgbClr val="02A886"/>
                    </a:solidFill>
                  </a:tcPr>
                </a:tc>
                <a:extLst>
                  <a:ext uri="{0D108BD9-81ED-4DB2-BD59-A6C34878D82A}">
                    <a16:rowId xmlns:a16="http://schemas.microsoft.com/office/drawing/2014/main" val="10000"/>
                  </a:ext>
                </a:extLst>
              </a:tr>
              <a:tr h="265176">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Base Model</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Fully frozen (trainable=False)</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Top layers unfrozen (last 30 for B3; last 10 for ViT)</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extLst>
                  <a:ext uri="{0D108BD9-81ED-4DB2-BD59-A6C34878D82A}">
                    <a16:rowId xmlns:a16="http://schemas.microsoft.com/office/drawing/2014/main" val="10001"/>
                  </a:ext>
                </a:extLst>
              </a:tr>
              <a:tr h="265176">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Learning Rate</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Adam lr = 1e-3</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Adam lr = 1e-5  (10× smaller)</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extLst>
                  <a:ext uri="{0D108BD9-81ED-4DB2-BD59-A6C34878D82A}">
                    <a16:rowId xmlns:a16="http://schemas.microsoft.com/office/drawing/2014/main" val="10002"/>
                  </a:ext>
                </a:extLst>
              </a:tr>
              <a:tr h="265176">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Max Epochs</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15 epochs each model</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15 epochs each model</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extLst>
                  <a:ext uri="{0D108BD9-81ED-4DB2-BD59-A6C34878D82A}">
                    <a16:rowId xmlns:a16="http://schemas.microsoft.com/office/drawing/2014/main" val="10003"/>
                  </a:ext>
                </a:extLst>
              </a:tr>
              <a:tr h="265176">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Loss Function</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categorical_crossentropy</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categorical_crossentropy</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extLst>
                  <a:ext uri="{0D108BD9-81ED-4DB2-BD59-A6C34878D82A}">
                    <a16:rowId xmlns:a16="http://schemas.microsoft.com/office/drawing/2014/main" val="10004"/>
                  </a:ext>
                </a:extLst>
              </a:tr>
              <a:tr h="265176">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Metrics</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extLst>
                  <a:ext uri="{0D108BD9-81ED-4DB2-BD59-A6C34878D82A}">
                    <a16:rowId xmlns:a16="http://schemas.microsoft.com/office/drawing/2014/main" val="10005"/>
                  </a:ext>
                </a:extLst>
              </a:tr>
              <a:tr h="265176">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Class Weights</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Applied (balanced) for all splits</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Applied (balanced) for all splits</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extLst>
                  <a:ext uri="{0D108BD9-81ED-4DB2-BD59-A6C34878D82A}">
                    <a16:rowId xmlns:a16="http://schemas.microsoft.com/office/drawing/2014/main" val="10006"/>
                  </a:ext>
                </a:extLst>
              </a:tr>
              <a:tr h="265176">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Batch Size</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32 (standard for 224×224 images)</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tc>
                  <a:txBody>
                    <a:bodyPr/>
                    <a:lstStyle/>
                    <a:p>
                      <a:pPr marL="0" indent="0" algn="l">
                        <a:buNone/>
                      </a:pPr>
                      <a:r>
                        <a:rPr lang="en-US" sz="1000" dirty="0">
                          <a:solidFill>
                            <a:srgbClr val="1C2B30"/>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a:lnL w="6350" cap="flat" cmpd="sng" algn="ctr">
                      <a:solidFill>
                        <a:srgbClr val="C5E8E4"/>
                      </a:solidFill>
                      <a:prstDash val="solid"/>
                      <a:round/>
                      <a:headEnd type="none" w="med" len="med"/>
                      <a:tailEnd type="none" w="med" len="med"/>
                    </a:lnL>
                    <a:lnR w="6350" cap="flat" cmpd="sng" algn="ctr">
                      <a:solidFill>
                        <a:srgbClr val="C5E8E4"/>
                      </a:solidFill>
                      <a:prstDash val="solid"/>
                      <a:round/>
                      <a:headEnd type="none" w="med" len="med"/>
                      <a:tailEnd type="none" w="med" len="med"/>
                    </a:lnR>
                    <a:lnT w="6350" cap="flat" cmpd="sng" algn="ctr">
                      <a:solidFill>
                        <a:srgbClr val="C5E8E4"/>
                      </a:solidFill>
                      <a:prstDash val="solid"/>
                      <a:round/>
                      <a:headEnd type="none" w="med" len="med"/>
                      <a:tailEnd type="none" w="med" len="med"/>
                    </a:lnT>
                    <a:lnB w="6350" cap="flat" cmpd="sng" algn="ctr">
                      <a:solidFill>
                        <a:srgbClr val="C5E8E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3"/>
          <p:cNvSpPr/>
          <p:nvPr/>
        </p:nvSpPr>
        <p:spPr>
          <a:xfrm>
            <a:off x="274320" y="2852928"/>
            <a:ext cx="8595360" cy="274320"/>
          </a:xfrm>
          <a:prstGeom prst="rect">
            <a:avLst/>
          </a:prstGeom>
          <a:solidFill>
            <a:srgbClr val="EEF9F7"/>
          </a:solidFill>
          <a:ln w="15240">
            <a:solidFill>
              <a:srgbClr val="C5E8E4"/>
            </a:solidFill>
            <a:prstDash val="solid"/>
          </a:ln>
          <a:effectLst>
            <a:outerShdw blurRad="76200" dist="25400" dir="8100000" algn="bl" rotWithShape="0">
              <a:srgbClr val="000000">
                <a:alpha val="8000"/>
              </a:srgbClr>
            </a:outerShdw>
          </a:effectLst>
        </p:spPr>
      </p:sp>
      <p:sp>
        <p:nvSpPr>
          <p:cNvPr id="7" name="Text 4"/>
          <p:cNvSpPr/>
          <p:nvPr/>
        </p:nvSpPr>
        <p:spPr>
          <a:xfrm>
            <a:off x="457200" y="2852928"/>
            <a:ext cx="8229600" cy="27432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Training Callbacks</a:t>
            </a:r>
            <a:endParaRPr lang="en-US" sz="1200" dirty="0"/>
          </a:p>
        </p:txBody>
      </p:sp>
      <p:sp>
        <p:nvSpPr>
          <p:cNvPr id="8" name="Shape 5"/>
          <p:cNvSpPr/>
          <p:nvPr/>
        </p:nvSpPr>
        <p:spPr>
          <a:xfrm>
            <a:off x="274320" y="3200400"/>
            <a:ext cx="2788920" cy="160020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5" name="Shape 6"/>
          <p:cNvSpPr/>
          <p:nvPr/>
        </p:nvSpPr>
        <p:spPr>
          <a:xfrm>
            <a:off x="274320" y="3200400"/>
            <a:ext cx="64008" cy="1600200"/>
          </a:xfrm>
          <a:prstGeom prst="rect">
            <a:avLst/>
          </a:prstGeom>
          <a:solidFill>
            <a:srgbClr val="028090"/>
          </a:solidFill>
          <a:ln w="12700">
            <a:solidFill>
              <a:srgbClr val="028090"/>
            </a:solidFill>
            <a:prstDash val="solid"/>
          </a:ln>
        </p:spPr>
      </p:sp>
      <p:sp>
        <p:nvSpPr>
          <p:cNvPr id="10" name="Text 7"/>
          <p:cNvSpPr/>
          <p:nvPr/>
        </p:nvSpPr>
        <p:spPr>
          <a:xfrm>
            <a:off x="457200" y="3246120"/>
            <a:ext cx="2468880" cy="292608"/>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EarlyStopping</a:t>
            </a:r>
            <a:endParaRPr lang="en-US" sz="1150" dirty="0"/>
          </a:p>
        </p:txBody>
      </p:sp>
      <p:sp>
        <p:nvSpPr>
          <p:cNvPr id="11" name="Text 8"/>
          <p:cNvSpPr/>
          <p:nvPr/>
        </p:nvSpPr>
        <p:spPr>
          <a:xfrm>
            <a:off x="457200" y="3566160"/>
            <a:ext cx="2468880" cy="274320"/>
          </a:xfrm>
          <a:prstGeom prst="rect">
            <a:avLst/>
          </a:prstGeom>
          <a:noFill/>
          <a:ln/>
        </p:spPr>
        <p:txBody>
          <a:bodyPr wrap="square" rtlCol="0" anchor="ctr"/>
          <a:lstStyle/>
          <a:p>
            <a:pPr marL="0" indent="0">
              <a:buNone/>
            </a:pPr>
            <a:r>
              <a:rPr lang="en-US" sz="850" i="1" dirty="0">
                <a:solidFill>
                  <a:srgbClr val="4A6B72"/>
                </a:solidFill>
                <a:latin typeface="Calibri" pitchFamily="34" charset="0"/>
                <a:ea typeface="Calibri" pitchFamily="34" charset="-122"/>
                <a:cs typeface="Calibri" pitchFamily="34" charset="-120"/>
              </a:rPr>
              <a:t>monitor='val_loss', patience=5, restore_best_weights=True</a:t>
            </a:r>
            <a:endParaRPr lang="en-US" sz="850" dirty="0"/>
          </a:p>
        </p:txBody>
      </p:sp>
      <p:sp>
        <p:nvSpPr>
          <p:cNvPr id="12" name="Text 9"/>
          <p:cNvSpPr/>
          <p:nvPr/>
        </p:nvSpPr>
        <p:spPr>
          <a:xfrm>
            <a:off x="457200" y="3858768"/>
            <a:ext cx="2468880" cy="91440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Stops training when validation loss stops improving for 5 consecutive epochs. Restores the best-performing weights before halting, preventing both overfitting and unnecessary computation.</a:t>
            </a:r>
            <a:endParaRPr lang="en-US" sz="950" dirty="0"/>
          </a:p>
        </p:txBody>
      </p:sp>
      <p:sp>
        <p:nvSpPr>
          <p:cNvPr id="13" name="Shape 10"/>
          <p:cNvSpPr/>
          <p:nvPr/>
        </p:nvSpPr>
        <p:spPr>
          <a:xfrm>
            <a:off x="3172968" y="3200400"/>
            <a:ext cx="2788920" cy="160020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14" name="Shape 11"/>
          <p:cNvSpPr/>
          <p:nvPr/>
        </p:nvSpPr>
        <p:spPr>
          <a:xfrm>
            <a:off x="3172968" y="3200400"/>
            <a:ext cx="64008" cy="1600200"/>
          </a:xfrm>
          <a:prstGeom prst="rect">
            <a:avLst/>
          </a:prstGeom>
          <a:solidFill>
            <a:srgbClr val="02A886"/>
          </a:solidFill>
          <a:ln w="12700">
            <a:solidFill>
              <a:srgbClr val="02A886"/>
            </a:solidFill>
            <a:prstDash val="solid"/>
          </a:ln>
        </p:spPr>
      </p:sp>
      <p:sp>
        <p:nvSpPr>
          <p:cNvPr id="15" name="Text 12"/>
          <p:cNvSpPr/>
          <p:nvPr/>
        </p:nvSpPr>
        <p:spPr>
          <a:xfrm>
            <a:off x="3355848" y="3246120"/>
            <a:ext cx="2468880" cy="292608"/>
          </a:xfrm>
          <a:prstGeom prst="rect">
            <a:avLst/>
          </a:prstGeom>
          <a:noFill/>
          <a:ln/>
        </p:spPr>
        <p:txBody>
          <a:bodyPr wrap="square" rtlCol="0" anchor="ctr"/>
          <a:lstStyle/>
          <a:p>
            <a:pPr marL="0" indent="0">
              <a:buNone/>
            </a:pPr>
            <a:r>
              <a:rPr lang="en-US" sz="1150" b="1" dirty="0">
                <a:solidFill>
                  <a:srgbClr val="02A886"/>
                </a:solidFill>
                <a:latin typeface="Calibri" pitchFamily="34" charset="0"/>
                <a:ea typeface="Calibri" pitchFamily="34" charset="-122"/>
                <a:cs typeface="Calibri" pitchFamily="34" charset="-120"/>
              </a:rPr>
              <a:t>ReduceLROnPlateau</a:t>
            </a:r>
            <a:endParaRPr lang="en-US" sz="1150" dirty="0"/>
          </a:p>
        </p:txBody>
      </p:sp>
      <p:sp>
        <p:nvSpPr>
          <p:cNvPr id="16" name="Text 13"/>
          <p:cNvSpPr/>
          <p:nvPr/>
        </p:nvSpPr>
        <p:spPr>
          <a:xfrm>
            <a:off x="3355848" y="3566160"/>
            <a:ext cx="2468880" cy="274320"/>
          </a:xfrm>
          <a:prstGeom prst="rect">
            <a:avLst/>
          </a:prstGeom>
          <a:noFill/>
          <a:ln/>
        </p:spPr>
        <p:txBody>
          <a:bodyPr wrap="square" rtlCol="0" anchor="ctr"/>
          <a:lstStyle/>
          <a:p>
            <a:pPr marL="0" indent="0">
              <a:buNone/>
            </a:pPr>
            <a:r>
              <a:rPr lang="en-US" sz="850" i="1" dirty="0">
                <a:solidFill>
                  <a:srgbClr val="4A6B72"/>
                </a:solidFill>
                <a:latin typeface="Calibri" pitchFamily="34" charset="0"/>
                <a:ea typeface="Calibri" pitchFamily="34" charset="-122"/>
                <a:cs typeface="Calibri" pitchFamily="34" charset="-120"/>
              </a:rPr>
              <a:t>monitor='val_loss', factor=0.5, patience=3, min_lr=1e-7</a:t>
            </a:r>
            <a:endParaRPr lang="en-US" sz="850" dirty="0"/>
          </a:p>
        </p:txBody>
      </p:sp>
      <p:sp>
        <p:nvSpPr>
          <p:cNvPr id="17" name="Text 14"/>
          <p:cNvSpPr/>
          <p:nvPr/>
        </p:nvSpPr>
        <p:spPr>
          <a:xfrm>
            <a:off x="3355848" y="3858768"/>
            <a:ext cx="2468880" cy="91440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If validation loss stagnates for 3 epochs, the learning rate is halved. This allows the optimizer to take finer steps near convergence and escape shallow local minima, improving final accuracy.</a:t>
            </a:r>
            <a:endParaRPr lang="en-US" sz="950" dirty="0"/>
          </a:p>
        </p:txBody>
      </p:sp>
      <p:sp>
        <p:nvSpPr>
          <p:cNvPr id="18" name="Shape 15"/>
          <p:cNvSpPr/>
          <p:nvPr/>
        </p:nvSpPr>
        <p:spPr>
          <a:xfrm>
            <a:off x="6071616" y="3200400"/>
            <a:ext cx="2788920" cy="160020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19" name="Shape 16"/>
          <p:cNvSpPr/>
          <p:nvPr/>
        </p:nvSpPr>
        <p:spPr>
          <a:xfrm>
            <a:off x="6071616" y="3200400"/>
            <a:ext cx="64008" cy="1600200"/>
          </a:xfrm>
          <a:prstGeom prst="rect">
            <a:avLst/>
          </a:prstGeom>
          <a:solidFill>
            <a:srgbClr val="E85D04"/>
          </a:solidFill>
          <a:ln w="12700">
            <a:solidFill>
              <a:srgbClr val="E85D04"/>
            </a:solidFill>
            <a:prstDash val="solid"/>
          </a:ln>
        </p:spPr>
      </p:sp>
      <p:sp>
        <p:nvSpPr>
          <p:cNvPr id="20" name="Text 17"/>
          <p:cNvSpPr/>
          <p:nvPr/>
        </p:nvSpPr>
        <p:spPr>
          <a:xfrm>
            <a:off x="6254496" y="3246120"/>
            <a:ext cx="2468880" cy="292608"/>
          </a:xfrm>
          <a:prstGeom prst="rect">
            <a:avLst/>
          </a:prstGeom>
          <a:noFill/>
          <a:ln/>
        </p:spPr>
        <p:txBody>
          <a:bodyPr wrap="square" rtlCol="0" anchor="ctr"/>
          <a:lstStyle/>
          <a:p>
            <a:pPr marL="0" indent="0">
              <a:buNone/>
            </a:pPr>
            <a:r>
              <a:rPr lang="en-US" sz="1150" b="1" dirty="0">
                <a:solidFill>
                  <a:srgbClr val="E85D04"/>
                </a:solidFill>
                <a:latin typeface="Calibri" pitchFamily="34" charset="0"/>
                <a:ea typeface="Calibri" pitchFamily="34" charset="-122"/>
                <a:cs typeface="Calibri" pitchFamily="34" charset="-120"/>
              </a:rPr>
              <a:t>ModelCheckpoint</a:t>
            </a:r>
            <a:endParaRPr lang="en-US" sz="1150" dirty="0"/>
          </a:p>
        </p:txBody>
      </p:sp>
      <p:sp>
        <p:nvSpPr>
          <p:cNvPr id="21" name="Text 18"/>
          <p:cNvSpPr/>
          <p:nvPr/>
        </p:nvSpPr>
        <p:spPr>
          <a:xfrm>
            <a:off x="6254496" y="3566160"/>
            <a:ext cx="2468880" cy="274320"/>
          </a:xfrm>
          <a:prstGeom prst="rect">
            <a:avLst/>
          </a:prstGeom>
          <a:noFill/>
          <a:ln/>
        </p:spPr>
        <p:txBody>
          <a:bodyPr wrap="square" rtlCol="0" anchor="ctr"/>
          <a:lstStyle/>
          <a:p>
            <a:pPr marL="0" indent="0">
              <a:buNone/>
            </a:pPr>
            <a:r>
              <a:rPr lang="en-US" sz="850" i="1" dirty="0">
                <a:solidFill>
                  <a:srgbClr val="4A6B72"/>
                </a:solidFill>
                <a:latin typeface="Calibri" pitchFamily="34" charset="0"/>
                <a:ea typeface="Calibri" pitchFamily="34" charset="-122"/>
                <a:cs typeface="Calibri" pitchFamily="34" charset="-120"/>
              </a:rPr>
              <a:t>monitor='val_accuracy', save_best_only=True (Phase 2 only)</a:t>
            </a:r>
            <a:endParaRPr lang="en-US" sz="850" dirty="0"/>
          </a:p>
        </p:txBody>
      </p:sp>
      <p:sp>
        <p:nvSpPr>
          <p:cNvPr id="22" name="Text 19"/>
          <p:cNvSpPr/>
          <p:nvPr/>
        </p:nvSpPr>
        <p:spPr>
          <a:xfrm>
            <a:off x="6254496" y="3858768"/>
            <a:ext cx="2468880" cy="91440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Saves the model weights only when validation accuracy improves during fine-tuning. Ensures the best generalizing checkpoint is preserved regardless of whether early stopping triggers.</a:t>
            </a:r>
            <a:endParaRPr lang="en-US" sz="950" dirty="0"/>
          </a:p>
        </p:txBody>
      </p:sp>
      <p:sp>
        <p:nvSpPr>
          <p:cNvPr id="23" name="Shape 20"/>
          <p:cNvSpPr/>
          <p:nvPr/>
        </p:nvSpPr>
        <p:spPr>
          <a:xfrm>
            <a:off x="457200" y="4800600"/>
            <a:ext cx="8595360" cy="320040"/>
          </a:xfrm>
          <a:prstGeom prst="rect">
            <a:avLst/>
          </a:prstGeom>
          <a:solidFill>
            <a:srgbClr val="EEF9F7"/>
          </a:solidFill>
          <a:ln w="15240">
            <a:solidFill>
              <a:srgbClr val="C5E8E4"/>
            </a:solidFill>
            <a:prstDash val="solid"/>
          </a:ln>
          <a:effectLst>
            <a:outerShdw blurRad="76200" dist="25400" dir="8100000" algn="bl" rotWithShape="0">
              <a:srgbClr val="000000">
                <a:alpha val="8000"/>
              </a:srgbClr>
            </a:outerShdw>
          </a:effectLst>
        </p:spPr>
        <p:txBody>
          <a:bodyPr/>
          <a:lstStyle/>
          <a:p>
            <a:endParaRPr lang="en-IN" dirty="0"/>
          </a:p>
        </p:txBody>
      </p:sp>
      <p:sp>
        <p:nvSpPr>
          <p:cNvPr id="24" name="Text 21"/>
          <p:cNvSpPr/>
          <p:nvPr/>
        </p:nvSpPr>
        <p:spPr>
          <a:xfrm>
            <a:off x="457200" y="4864608"/>
            <a:ext cx="8321040" cy="320040"/>
          </a:xfrm>
          <a:prstGeom prst="rect">
            <a:avLst/>
          </a:prstGeom>
          <a:noFill/>
          <a:ln/>
        </p:spPr>
        <p:txBody>
          <a:bodyPr wrap="square" lIns="0" tIns="0" rIns="0" bIns="0" rtlCol="0" anchor="ctr"/>
          <a:lstStyle/>
          <a:p>
            <a:pPr marL="0" indent="0">
              <a:buNone/>
            </a:pPr>
            <a:endParaRPr lang="en-US" sz="950" dirty="0"/>
          </a:p>
        </p:txBody>
      </p:sp>
      <p:sp>
        <p:nvSpPr>
          <p:cNvPr id="26" name="Text 23"/>
          <p:cNvSpPr/>
          <p:nvPr/>
        </p:nvSpPr>
        <p:spPr>
          <a:xfrm>
            <a:off x="457200" y="5024628"/>
            <a:ext cx="8595360" cy="160020"/>
          </a:xfrm>
          <a:prstGeom prst="rect">
            <a:avLst/>
          </a:prstGeom>
          <a:noFill/>
          <a:ln/>
        </p:spPr>
        <p:txBody>
          <a:bodyPr wrap="square" lIns="0" tIns="0" rIns="0" bIns="0" rtlCol="0" anchor="ctr"/>
          <a:lstStyle/>
          <a:p>
            <a:pPr marL="0" indent="0">
              <a:buNone/>
            </a:pP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Confidence Cascade Evaluation Methodology</a:t>
            </a:r>
            <a:endParaRPr lang="en-US" sz="1700" dirty="0"/>
          </a:p>
        </p:txBody>
      </p:sp>
      <p:sp>
        <p:nvSpPr>
          <p:cNvPr id="4" name="Shape 2"/>
          <p:cNvSpPr/>
          <p:nvPr/>
        </p:nvSpPr>
        <p:spPr>
          <a:xfrm>
            <a:off x="274320" y="658368"/>
            <a:ext cx="8595360" cy="704088"/>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5" name="Shape 3"/>
          <p:cNvSpPr/>
          <p:nvPr/>
        </p:nvSpPr>
        <p:spPr>
          <a:xfrm>
            <a:off x="320040" y="832104"/>
            <a:ext cx="347472" cy="347472"/>
          </a:xfrm>
          <a:prstGeom prst="ellipse">
            <a:avLst/>
          </a:prstGeom>
          <a:solidFill>
            <a:srgbClr val="028090"/>
          </a:solidFill>
          <a:ln w="12700">
            <a:solidFill>
              <a:srgbClr val="028090"/>
            </a:solidFill>
            <a:prstDash val="solid"/>
          </a:ln>
        </p:spPr>
      </p:sp>
      <p:sp>
        <p:nvSpPr>
          <p:cNvPr id="6" name="Text 4"/>
          <p:cNvSpPr/>
          <p:nvPr/>
        </p:nvSpPr>
        <p:spPr>
          <a:xfrm>
            <a:off x="320040" y="83210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777240" y="704088"/>
            <a:ext cx="7955280" cy="274320"/>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Run Primary on Test Set</a:t>
            </a:r>
            <a:endParaRPr lang="en-US" sz="1100" dirty="0"/>
          </a:p>
        </p:txBody>
      </p:sp>
      <p:sp>
        <p:nvSpPr>
          <p:cNvPr id="8" name="Text 6"/>
          <p:cNvSpPr/>
          <p:nvPr/>
        </p:nvSpPr>
        <p:spPr>
          <a:xfrm>
            <a:off x="777240" y="996696"/>
            <a:ext cx="795528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primary_model.predict() generates a softmax probability vector (length 4) for every test image. np.argmax() gives the predicted class; np.max() gives the confidence score.</a:t>
            </a:r>
            <a:endParaRPr lang="en-US" sz="950" dirty="0"/>
          </a:p>
        </p:txBody>
      </p:sp>
      <p:sp>
        <p:nvSpPr>
          <p:cNvPr id="9" name="Shape 7"/>
          <p:cNvSpPr/>
          <p:nvPr/>
        </p:nvSpPr>
        <p:spPr>
          <a:xfrm>
            <a:off x="274320" y="1453896"/>
            <a:ext cx="8595360" cy="704088"/>
          </a:xfrm>
          <a:prstGeom prst="rect">
            <a:avLst/>
          </a:prstGeom>
          <a:solidFill>
            <a:srgbClr val="EEF9F7"/>
          </a:solidFill>
          <a:ln w="15240">
            <a:solidFill>
              <a:srgbClr val="C5E8E4"/>
            </a:solidFill>
            <a:prstDash val="solid"/>
          </a:ln>
          <a:effectLst>
            <a:outerShdw blurRad="76200" dist="25400" dir="8100000" algn="bl" rotWithShape="0">
              <a:srgbClr val="000000">
                <a:alpha val="8000"/>
              </a:srgbClr>
            </a:outerShdw>
          </a:effectLst>
        </p:spPr>
      </p:sp>
      <p:sp>
        <p:nvSpPr>
          <p:cNvPr id="10" name="Shape 8"/>
          <p:cNvSpPr/>
          <p:nvPr/>
        </p:nvSpPr>
        <p:spPr>
          <a:xfrm>
            <a:off x="320040" y="1627632"/>
            <a:ext cx="347472" cy="347472"/>
          </a:xfrm>
          <a:prstGeom prst="ellipse">
            <a:avLst/>
          </a:prstGeom>
          <a:solidFill>
            <a:srgbClr val="028090"/>
          </a:solidFill>
          <a:ln w="12700">
            <a:solidFill>
              <a:srgbClr val="028090"/>
            </a:solidFill>
            <a:prstDash val="solid"/>
          </a:ln>
        </p:spPr>
      </p:sp>
      <p:sp>
        <p:nvSpPr>
          <p:cNvPr id="11" name="Text 9"/>
          <p:cNvSpPr/>
          <p:nvPr/>
        </p:nvSpPr>
        <p:spPr>
          <a:xfrm>
            <a:off x="320040" y="16276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777240" y="1499616"/>
            <a:ext cx="7955280" cy="274320"/>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Classify by Confidence</a:t>
            </a:r>
            <a:endParaRPr lang="en-US" sz="1100" dirty="0"/>
          </a:p>
        </p:txBody>
      </p:sp>
      <p:sp>
        <p:nvSpPr>
          <p:cNvPr id="13" name="Text 11"/>
          <p:cNvSpPr/>
          <p:nvPr/>
        </p:nvSpPr>
        <p:spPr>
          <a:xfrm>
            <a:off x="777240" y="1792224"/>
            <a:ext cx="795528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For each prediction, if max softmax ≥ 0.7 (confidence threshold), the primary prediction is accepted as final. Samples below threshold are flagged as 'low-confidence'.</a:t>
            </a:r>
            <a:endParaRPr lang="en-US" sz="950" dirty="0"/>
          </a:p>
        </p:txBody>
      </p:sp>
      <p:sp>
        <p:nvSpPr>
          <p:cNvPr id="14" name="Shape 12"/>
          <p:cNvSpPr/>
          <p:nvPr/>
        </p:nvSpPr>
        <p:spPr>
          <a:xfrm>
            <a:off x="274320" y="2249424"/>
            <a:ext cx="8595360" cy="704088"/>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15" name="Shape 13"/>
          <p:cNvSpPr/>
          <p:nvPr/>
        </p:nvSpPr>
        <p:spPr>
          <a:xfrm>
            <a:off x="320040" y="2423160"/>
            <a:ext cx="347472" cy="347472"/>
          </a:xfrm>
          <a:prstGeom prst="ellipse">
            <a:avLst/>
          </a:prstGeom>
          <a:solidFill>
            <a:srgbClr val="028090"/>
          </a:solidFill>
          <a:ln w="12700">
            <a:solidFill>
              <a:srgbClr val="028090"/>
            </a:solidFill>
            <a:prstDash val="solid"/>
          </a:ln>
        </p:spPr>
      </p:sp>
      <p:sp>
        <p:nvSpPr>
          <p:cNvPr id="16" name="Text 14"/>
          <p:cNvSpPr/>
          <p:nvPr/>
        </p:nvSpPr>
        <p:spPr>
          <a:xfrm>
            <a:off x="320040" y="242316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777240" y="2295144"/>
            <a:ext cx="7955280" cy="274320"/>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Refiner for Uncertain Samples</a:t>
            </a:r>
            <a:endParaRPr lang="en-US" sz="1100" dirty="0"/>
          </a:p>
        </p:txBody>
      </p:sp>
      <p:sp>
        <p:nvSpPr>
          <p:cNvPr id="18" name="Text 16"/>
          <p:cNvSpPr/>
          <p:nvPr/>
        </p:nvSpPr>
        <p:spPr>
          <a:xfrm>
            <a:off x="777240" y="2587752"/>
            <a:ext cx="795528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Low-confidence test images are extracted and passed to refiner_model.predict(). ViT-B16 generates new probability vectors. The refiner's argmax replaces the primary's prediction for these samples.</a:t>
            </a:r>
            <a:endParaRPr lang="en-US" sz="950" dirty="0"/>
          </a:p>
        </p:txBody>
      </p:sp>
      <p:sp>
        <p:nvSpPr>
          <p:cNvPr id="19" name="Shape 17"/>
          <p:cNvSpPr/>
          <p:nvPr/>
        </p:nvSpPr>
        <p:spPr>
          <a:xfrm>
            <a:off x="274320" y="3044952"/>
            <a:ext cx="8595360" cy="704088"/>
          </a:xfrm>
          <a:prstGeom prst="rect">
            <a:avLst/>
          </a:prstGeom>
          <a:solidFill>
            <a:srgbClr val="EEF9F7"/>
          </a:solidFill>
          <a:ln w="15240">
            <a:solidFill>
              <a:srgbClr val="C5E8E4"/>
            </a:solidFill>
            <a:prstDash val="solid"/>
          </a:ln>
          <a:effectLst>
            <a:outerShdw blurRad="76200" dist="25400" dir="8100000" algn="bl" rotWithShape="0">
              <a:srgbClr val="000000">
                <a:alpha val="8000"/>
              </a:srgbClr>
            </a:outerShdw>
          </a:effectLst>
        </p:spPr>
      </p:sp>
      <p:sp>
        <p:nvSpPr>
          <p:cNvPr id="20" name="Shape 18"/>
          <p:cNvSpPr/>
          <p:nvPr/>
        </p:nvSpPr>
        <p:spPr>
          <a:xfrm>
            <a:off x="320040" y="3218688"/>
            <a:ext cx="347472" cy="347472"/>
          </a:xfrm>
          <a:prstGeom prst="ellipse">
            <a:avLst/>
          </a:prstGeom>
          <a:solidFill>
            <a:srgbClr val="028090"/>
          </a:solidFill>
          <a:ln w="12700">
            <a:solidFill>
              <a:srgbClr val="028090"/>
            </a:solidFill>
            <a:prstDash val="solid"/>
          </a:ln>
        </p:spPr>
      </p:sp>
      <p:sp>
        <p:nvSpPr>
          <p:cNvPr id="21" name="Text 19"/>
          <p:cNvSpPr/>
          <p:nvPr/>
        </p:nvSpPr>
        <p:spPr>
          <a:xfrm>
            <a:off x="320040" y="321868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777240" y="3090672"/>
            <a:ext cx="7955280" cy="274320"/>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Merge Final Predictions</a:t>
            </a:r>
            <a:endParaRPr lang="en-US" sz="1100" dirty="0"/>
          </a:p>
        </p:txBody>
      </p:sp>
      <p:sp>
        <p:nvSpPr>
          <p:cNvPr id="23" name="Text 21"/>
          <p:cNvSpPr/>
          <p:nvPr/>
        </p:nvSpPr>
        <p:spPr>
          <a:xfrm>
            <a:off x="777240" y="3383280"/>
            <a:ext cx="795528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final_preds[] combines high-confidence primary predictions with refiner predictions. final_probs[] is similarly updated for AUC-ROC computation. The result is a single, ensemble-quality output vector.</a:t>
            </a:r>
            <a:endParaRPr lang="en-US" sz="950" dirty="0"/>
          </a:p>
        </p:txBody>
      </p:sp>
      <p:sp>
        <p:nvSpPr>
          <p:cNvPr id="24" name="Shape 22"/>
          <p:cNvSpPr/>
          <p:nvPr/>
        </p:nvSpPr>
        <p:spPr>
          <a:xfrm>
            <a:off x="274320" y="3840480"/>
            <a:ext cx="8595360" cy="704088"/>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25" name="Shape 23"/>
          <p:cNvSpPr/>
          <p:nvPr/>
        </p:nvSpPr>
        <p:spPr>
          <a:xfrm>
            <a:off x="320040" y="4014216"/>
            <a:ext cx="347472" cy="347472"/>
          </a:xfrm>
          <a:prstGeom prst="ellipse">
            <a:avLst/>
          </a:prstGeom>
          <a:solidFill>
            <a:srgbClr val="028090"/>
          </a:solidFill>
          <a:ln w="12700">
            <a:solidFill>
              <a:srgbClr val="028090"/>
            </a:solidFill>
            <a:prstDash val="solid"/>
          </a:ln>
        </p:spPr>
      </p:sp>
      <p:sp>
        <p:nvSpPr>
          <p:cNvPr id="26" name="Text 24"/>
          <p:cNvSpPr/>
          <p:nvPr/>
        </p:nvSpPr>
        <p:spPr>
          <a:xfrm>
            <a:off x="320040" y="401421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777240" y="3886200"/>
            <a:ext cx="7955280" cy="274320"/>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Compute Metrics</a:t>
            </a:r>
            <a:endParaRPr lang="en-US" sz="1100" dirty="0"/>
          </a:p>
        </p:txBody>
      </p:sp>
      <p:sp>
        <p:nvSpPr>
          <p:cNvPr id="28" name="Text 26"/>
          <p:cNvSpPr/>
          <p:nvPr/>
        </p:nvSpPr>
        <p:spPr>
          <a:xfrm>
            <a:off x="777240" y="4178808"/>
            <a:ext cx="7955280" cy="310896"/>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sklearn generates a classification_report (precision, recall, F1, support per class). Confusion matrices are plotted for both primary-only and cascade results. AUC-ROC curves are computed using label_binarize for one-vs-rest evaluation.</a:t>
            </a:r>
            <a:endParaRPr lang="en-US" sz="950" dirty="0"/>
          </a:p>
        </p:txBody>
      </p:sp>
      <p:sp>
        <p:nvSpPr>
          <p:cNvPr id="29" name="Shape 27"/>
          <p:cNvSpPr/>
          <p:nvPr/>
        </p:nvSpPr>
        <p:spPr>
          <a:xfrm>
            <a:off x="0" y="4983480"/>
            <a:ext cx="9144000" cy="160020"/>
          </a:xfrm>
          <a:prstGeom prst="rect">
            <a:avLst/>
          </a:prstGeom>
          <a:solidFill>
            <a:srgbClr val="D4F1EB"/>
          </a:solidFill>
          <a:ln w="12700">
            <a:solidFill>
              <a:srgbClr val="D4F1EB"/>
            </a:solidFill>
            <a:prstDash val="solid"/>
          </a:ln>
        </p:spPr>
      </p:sp>
      <p:sp>
        <p:nvSpPr>
          <p:cNvPr id="30" name="Text 28"/>
          <p:cNvSpPr/>
          <p:nvPr/>
        </p:nvSpPr>
        <p:spPr>
          <a:xfrm>
            <a:off x="274320" y="4983480"/>
            <a:ext cx="8595360" cy="160020"/>
          </a:xfrm>
          <a:prstGeom prst="rect">
            <a:avLst/>
          </a:prstGeom>
          <a:noFill/>
          <a:ln/>
        </p:spPr>
        <p:txBody>
          <a:bodyPr wrap="square" lIns="0" tIns="0" rIns="0" bIns="0" rtlCol="0" anchor="ctr"/>
          <a:lstStyle/>
          <a:p>
            <a:pPr marL="0" indent="0">
              <a:buNone/>
            </a:pP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Evaluation Metrics &amp; Expected Outcomes</a:t>
            </a:r>
            <a:endParaRPr lang="en-US" sz="1700" dirty="0"/>
          </a:p>
        </p:txBody>
      </p:sp>
      <p:sp>
        <p:nvSpPr>
          <p:cNvPr id="4" name="Shape 2"/>
          <p:cNvSpPr/>
          <p:nvPr/>
        </p:nvSpPr>
        <p:spPr>
          <a:xfrm>
            <a:off x="274320" y="658368"/>
            <a:ext cx="8595360" cy="164592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txBody>
          <a:bodyPr/>
          <a:lstStyle/>
          <a:p>
            <a:endParaRPr lang="en-IN" dirty="0"/>
          </a:p>
        </p:txBody>
      </p:sp>
      <p:sp>
        <p:nvSpPr>
          <p:cNvPr id="5" name="Shape 3"/>
          <p:cNvSpPr/>
          <p:nvPr/>
        </p:nvSpPr>
        <p:spPr>
          <a:xfrm>
            <a:off x="274320" y="658368"/>
            <a:ext cx="64008" cy="1645920"/>
          </a:xfrm>
          <a:prstGeom prst="rect">
            <a:avLst/>
          </a:prstGeom>
          <a:solidFill>
            <a:srgbClr val="028090"/>
          </a:solidFill>
          <a:ln w="12700">
            <a:solidFill>
              <a:srgbClr val="028090"/>
            </a:solidFill>
            <a:prstDash val="solid"/>
          </a:ln>
        </p:spPr>
      </p:sp>
      <p:sp>
        <p:nvSpPr>
          <p:cNvPr id="6" name="Text 4"/>
          <p:cNvSpPr/>
          <p:nvPr/>
        </p:nvSpPr>
        <p:spPr>
          <a:xfrm>
            <a:off x="457200" y="704088"/>
            <a:ext cx="8229600" cy="320040"/>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Metrics Used for Evaluation</a:t>
            </a:r>
            <a:endParaRPr lang="en-US" sz="1200" dirty="0"/>
          </a:p>
        </p:txBody>
      </p:sp>
      <p:sp>
        <p:nvSpPr>
          <p:cNvPr id="7" name="Shape 5"/>
          <p:cNvSpPr/>
          <p:nvPr/>
        </p:nvSpPr>
        <p:spPr>
          <a:xfrm>
            <a:off x="457200" y="1106424"/>
            <a:ext cx="118872" cy="118872"/>
          </a:xfrm>
          <a:prstGeom prst="ellipse">
            <a:avLst/>
          </a:prstGeom>
          <a:solidFill>
            <a:srgbClr val="028090"/>
          </a:solidFill>
          <a:ln w="12700">
            <a:solidFill>
              <a:srgbClr val="028090"/>
            </a:solidFill>
            <a:prstDash val="solid"/>
          </a:ln>
        </p:spPr>
      </p:sp>
      <p:sp>
        <p:nvSpPr>
          <p:cNvPr id="8" name="Text 6"/>
          <p:cNvSpPr/>
          <p:nvPr/>
        </p:nvSpPr>
        <p:spPr>
          <a:xfrm>
            <a:off x="640080" y="1078992"/>
            <a:ext cx="1005840" cy="274320"/>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Precision: </a:t>
            </a:r>
            <a:endParaRPr lang="en-US" sz="1000" dirty="0"/>
          </a:p>
        </p:txBody>
      </p:sp>
      <p:sp>
        <p:nvSpPr>
          <p:cNvPr id="9" name="Text 7"/>
          <p:cNvSpPr/>
          <p:nvPr/>
        </p:nvSpPr>
        <p:spPr>
          <a:xfrm>
            <a:off x="1786466" y="1143000"/>
            <a:ext cx="2785533" cy="82296"/>
          </a:xfrm>
          <a:prstGeom prst="rect">
            <a:avLst/>
          </a:prstGeom>
          <a:noFill/>
          <a:ln/>
        </p:spPr>
        <p:txBody>
          <a:bodyPr wrap="square" rtlCol="0" anchor="ctr"/>
          <a:lstStyle/>
          <a:p>
            <a:pPr marL="0" indent="0">
              <a:buNone/>
            </a:pPr>
            <a:r>
              <a:rPr lang="en-US" sz="900" dirty="0">
                <a:solidFill>
                  <a:srgbClr val="1C2B30"/>
                </a:solidFill>
                <a:latin typeface="Calibri" pitchFamily="34" charset="0"/>
                <a:ea typeface="Calibri" pitchFamily="34" charset="-122"/>
                <a:cs typeface="Calibri" pitchFamily="34" charset="-120"/>
              </a:rPr>
              <a:t>Of all samples predicted as Class X, how many are actually Class X? Important in clinical settings to avoid false positives in Severe cases.</a:t>
            </a:r>
          </a:p>
          <a:p>
            <a:pPr marL="0" indent="0">
              <a:buNone/>
            </a:pPr>
            <a:endParaRPr lang="en-US" sz="900" dirty="0"/>
          </a:p>
        </p:txBody>
      </p:sp>
      <p:sp>
        <p:nvSpPr>
          <p:cNvPr id="10" name="Shape 8"/>
          <p:cNvSpPr/>
          <p:nvPr/>
        </p:nvSpPr>
        <p:spPr>
          <a:xfrm>
            <a:off x="457200" y="1444752"/>
            <a:ext cx="118872" cy="118872"/>
          </a:xfrm>
          <a:prstGeom prst="ellipse">
            <a:avLst/>
          </a:prstGeom>
          <a:solidFill>
            <a:srgbClr val="028090"/>
          </a:solidFill>
          <a:ln w="12700">
            <a:solidFill>
              <a:srgbClr val="028090"/>
            </a:solidFill>
            <a:prstDash val="solid"/>
          </a:ln>
        </p:spPr>
      </p:sp>
      <p:sp>
        <p:nvSpPr>
          <p:cNvPr id="11" name="Text 9"/>
          <p:cNvSpPr/>
          <p:nvPr/>
        </p:nvSpPr>
        <p:spPr>
          <a:xfrm>
            <a:off x="640080" y="1417320"/>
            <a:ext cx="1005840" cy="274320"/>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Recall: </a:t>
            </a:r>
            <a:endParaRPr lang="en-US" sz="1000" dirty="0"/>
          </a:p>
        </p:txBody>
      </p:sp>
      <p:sp>
        <p:nvSpPr>
          <p:cNvPr id="12" name="Text 10"/>
          <p:cNvSpPr/>
          <p:nvPr/>
        </p:nvSpPr>
        <p:spPr>
          <a:xfrm>
            <a:off x="1645920" y="1417320"/>
            <a:ext cx="2926080" cy="274320"/>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Of all actual Class X samples, how many did the model correctly identify? Recall for Severe is critical — missing a Severe case is the most dangerous error.</a:t>
            </a:r>
            <a:endParaRPr lang="en-US" sz="950" dirty="0"/>
          </a:p>
        </p:txBody>
      </p:sp>
      <p:sp>
        <p:nvSpPr>
          <p:cNvPr id="13" name="Shape 11"/>
          <p:cNvSpPr/>
          <p:nvPr/>
        </p:nvSpPr>
        <p:spPr>
          <a:xfrm>
            <a:off x="457200" y="1783080"/>
            <a:ext cx="118872" cy="118872"/>
          </a:xfrm>
          <a:prstGeom prst="ellipse">
            <a:avLst/>
          </a:prstGeom>
          <a:solidFill>
            <a:srgbClr val="028090"/>
          </a:solidFill>
          <a:ln w="12700">
            <a:solidFill>
              <a:srgbClr val="028090"/>
            </a:solidFill>
            <a:prstDash val="solid"/>
          </a:ln>
        </p:spPr>
      </p:sp>
      <p:sp>
        <p:nvSpPr>
          <p:cNvPr id="14" name="Text 12"/>
          <p:cNvSpPr/>
          <p:nvPr/>
        </p:nvSpPr>
        <p:spPr>
          <a:xfrm>
            <a:off x="640080" y="1755648"/>
            <a:ext cx="1005840" cy="274320"/>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F1 Score: </a:t>
            </a:r>
            <a:endParaRPr lang="en-US" sz="1000" dirty="0"/>
          </a:p>
        </p:txBody>
      </p:sp>
      <p:sp>
        <p:nvSpPr>
          <p:cNvPr id="15" name="Text 13"/>
          <p:cNvSpPr/>
          <p:nvPr/>
        </p:nvSpPr>
        <p:spPr>
          <a:xfrm>
            <a:off x="1645920" y="1755648"/>
            <a:ext cx="2926080" cy="492252"/>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Harmonic mean of precision and recall. Provides a single balanced metric for each class, accounting for both false positives and false negatives.</a:t>
            </a:r>
            <a:endParaRPr lang="en-US" sz="950" dirty="0"/>
          </a:p>
        </p:txBody>
      </p:sp>
      <p:sp>
        <p:nvSpPr>
          <p:cNvPr id="16" name="Shape 14"/>
          <p:cNvSpPr/>
          <p:nvPr/>
        </p:nvSpPr>
        <p:spPr>
          <a:xfrm>
            <a:off x="13350240" y="1106424"/>
            <a:ext cx="118872" cy="118872"/>
          </a:xfrm>
          <a:prstGeom prst="ellipse">
            <a:avLst/>
          </a:prstGeom>
          <a:solidFill>
            <a:srgbClr val="028090"/>
          </a:solidFill>
          <a:ln w="12700">
            <a:solidFill>
              <a:srgbClr val="028090"/>
            </a:solidFill>
            <a:prstDash val="solid"/>
          </a:ln>
        </p:spPr>
      </p:sp>
      <p:sp>
        <p:nvSpPr>
          <p:cNvPr id="17" name="Text 15"/>
          <p:cNvSpPr/>
          <p:nvPr/>
        </p:nvSpPr>
        <p:spPr>
          <a:xfrm>
            <a:off x="13533120" y="1078992"/>
            <a:ext cx="1005840" cy="274320"/>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AUC-ROC: </a:t>
            </a:r>
            <a:endParaRPr lang="en-US" sz="1000" dirty="0"/>
          </a:p>
        </p:txBody>
      </p:sp>
      <p:sp>
        <p:nvSpPr>
          <p:cNvPr id="18" name="Text 16"/>
          <p:cNvSpPr/>
          <p:nvPr/>
        </p:nvSpPr>
        <p:spPr>
          <a:xfrm>
            <a:off x="14538960" y="1078992"/>
            <a:ext cx="2926080" cy="274320"/>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Area Under the ROC Curve computed per class (one-vs-rest using label_binarize). Values near 1.0 indicate excellent discriminability between severity grades.</a:t>
            </a:r>
            <a:endParaRPr lang="en-US" sz="950" dirty="0"/>
          </a:p>
        </p:txBody>
      </p:sp>
      <p:sp>
        <p:nvSpPr>
          <p:cNvPr id="19" name="Shape 17"/>
          <p:cNvSpPr/>
          <p:nvPr/>
        </p:nvSpPr>
        <p:spPr>
          <a:xfrm>
            <a:off x="13350240" y="1444752"/>
            <a:ext cx="118872" cy="118872"/>
          </a:xfrm>
          <a:prstGeom prst="ellipse">
            <a:avLst/>
          </a:prstGeom>
          <a:solidFill>
            <a:srgbClr val="028090"/>
          </a:solidFill>
          <a:ln w="12700">
            <a:solidFill>
              <a:srgbClr val="028090"/>
            </a:solidFill>
            <a:prstDash val="solid"/>
          </a:ln>
        </p:spPr>
      </p:sp>
      <p:sp>
        <p:nvSpPr>
          <p:cNvPr id="20" name="Text 18"/>
          <p:cNvSpPr/>
          <p:nvPr/>
        </p:nvSpPr>
        <p:spPr>
          <a:xfrm>
            <a:off x="13533120" y="1417320"/>
            <a:ext cx="1005840" cy="274320"/>
          </a:xfrm>
          <a:prstGeom prst="rect">
            <a:avLst/>
          </a:prstGeom>
          <a:noFill/>
          <a:ln/>
        </p:spPr>
        <p:txBody>
          <a:bodyPr wrap="square"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Confusion Matrix: </a:t>
            </a:r>
            <a:endParaRPr lang="en-US" sz="1000" dirty="0"/>
          </a:p>
        </p:txBody>
      </p:sp>
      <p:sp>
        <p:nvSpPr>
          <p:cNvPr id="21" name="Text 19"/>
          <p:cNvSpPr/>
          <p:nvPr/>
        </p:nvSpPr>
        <p:spPr>
          <a:xfrm>
            <a:off x="14538960" y="1417320"/>
            <a:ext cx="2926080" cy="274320"/>
          </a:xfrm>
          <a:prstGeom prst="rect">
            <a:avLst/>
          </a:prstGeom>
          <a:noFill/>
          <a:ln/>
        </p:spPr>
        <p:txBody>
          <a:bodyPr wrap="square" rtlCol="0" anchor="ctr"/>
          <a:lstStyle/>
          <a:p>
            <a:pPr marL="0" indent="0">
              <a:buNone/>
            </a:pPr>
            <a:r>
              <a:rPr lang="en-US" sz="950" dirty="0">
                <a:solidFill>
                  <a:srgbClr val="1C2B30"/>
                </a:solidFill>
                <a:latin typeface="Calibri" pitchFamily="34" charset="0"/>
                <a:ea typeface="Calibri" pitchFamily="34" charset="-122"/>
                <a:cs typeface="Calibri" pitchFamily="34" charset="-120"/>
              </a:rPr>
              <a:t>Visualises prediction errors across all 4 classes. Diagonal = correct predictions; off-diagonal = confusion between adjacent severity grades (e.g., Mild vs Moderate).</a:t>
            </a:r>
            <a:endParaRPr lang="en-US" sz="950" dirty="0"/>
          </a:p>
        </p:txBody>
      </p:sp>
      <p:sp>
        <p:nvSpPr>
          <p:cNvPr id="22" name="Shape 20"/>
          <p:cNvSpPr/>
          <p:nvPr/>
        </p:nvSpPr>
        <p:spPr>
          <a:xfrm>
            <a:off x="274320" y="2423160"/>
            <a:ext cx="2788920" cy="237744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23" name="Shape 21"/>
          <p:cNvSpPr/>
          <p:nvPr/>
        </p:nvSpPr>
        <p:spPr>
          <a:xfrm>
            <a:off x="274320" y="2423160"/>
            <a:ext cx="64008" cy="2377440"/>
          </a:xfrm>
          <a:prstGeom prst="rect">
            <a:avLst/>
          </a:prstGeom>
          <a:solidFill>
            <a:srgbClr val="028090"/>
          </a:solidFill>
          <a:ln w="12700">
            <a:solidFill>
              <a:srgbClr val="028090"/>
            </a:solidFill>
            <a:prstDash val="solid"/>
          </a:ln>
        </p:spPr>
      </p:sp>
      <p:sp>
        <p:nvSpPr>
          <p:cNvPr id="24" name="Text 22"/>
          <p:cNvSpPr/>
          <p:nvPr/>
        </p:nvSpPr>
        <p:spPr>
          <a:xfrm>
            <a:off x="411480" y="2468880"/>
            <a:ext cx="2560320" cy="384048"/>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Why Cascade Outperforms Single Model</a:t>
            </a:r>
            <a:endParaRPr lang="en-US" sz="1100" dirty="0"/>
          </a:p>
        </p:txBody>
      </p:sp>
      <p:sp>
        <p:nvSpPr>
          <p:cNvPr id="25" name="Text 23"/>
          <p:cNvSpPr/>
          <p:nvPr/>
        </p:nvSpPr>
        <p:spPr>
          <a:xfrm>
            <a:off x="411480" y="2871216"/>
            <a:ext cx="2560320" cy="1856232"/>
          </a:xfrm>
          <a:prstGeom prst="rect">
            <a:avLst/>
          </a:prstGeom>
          <a:noFill/>
          <a:ln/>
        </p:spPr>
        <p:txBody>
          <a:bodyPr wrap="square" rtlCol="0" anchor="ctr"/>
          <a:lstStyle/>
          <a:p>
            <a:pPr marL="0" indent="0">
              <a:spcAft>
                <a:spcPts val="400"/>
              </a:spcAft>
              <a:buNone/>
            </a:pPr>
            <a:r>
              <a:rPr lang="en-US" sz="950" dirty="0">
                <a:solidFill>
                  <a:srgbClr val="1C2B30"/>
                </a:solidFill>
                <a:latin typeface="Calibri" pitchFamily="34" charset="0"/>
                <a:ea typeface="Calibri" pitchFamily="34" charset="-122"/>
                <a:cs typeface="Calibri" pitchFamily="34" charset="-120"/>
              </a:rPr>
              <a:t>The ViT-B16 refiner uses global attention mechanisms to capture long-range tissue features that EfficientNet's convolutional architecture may miss. For ambiguous cases (Mild vs Moderate), ViT's patch-level attention is better suited to identify subtle structural differences in glomerular tissue.</a:t>
            </a:r>
            <a:endParaRPr lang="en-US" sz="950" dirty="0"/>
          </a:p>
        </p:txBody>
      </p:sp>
      <p:sp>
        <p:nvSpPr>
          <p:cNvPr id="26" name="Shape 24"/>
          <p:cNvSpPr/>
          <p:nvPr/>
        </p:nvSpPr>
        <p:spPr>
          <a:xfrm>
            <a:off x="3172968" y="2423160"/>
            <a:ext cx="2788920" cy="237744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27" name="Shape 25"/>
          <p:cNvSpPr/>
          <p:nvPr/>
        </p:nvSpPr>
        <p:spPr>
          <a:xfrm>
            <a:off x="3172968" y="2423160"/>
            <a:ext cx="64008" cy="2377440"/>
          </a:xfrm>
          <a:prstGeom prst="rect">
            <a:avLst/>
          </a:prstGeom>
          <a:solidFill>
            <a:srgbClr val="02A886"/>
          </a:solidFill>
          <a:ln w="12700">
            <a:solidFill>
              <a:srgbClr val="02A886"/>
            </a:solidFill>
            <a:prstDash val="solid"/>
          </a:ln>
        </p:spPr>
      </p:sp>
      <p:sp>
        <p:nvSpPr>
          <p:cNvPr id="28" name="Text 26"/>
          <p:cNvSpPr/>
          <p:nvPr/>
        </p:nvSpPr>
        <p:spPr>
          <a:xfrm>
            <a:off x="3310128" y="2468880"/>
            <a:ext cx="2560320" cy="384048"/>
          </a:xfrm>
          <a:prstGeom prst="rect">
            <a:avLst/>
          </a:prstGeom>
          <a:noFill/>
          <a:ln/>
        </p:spPr>
        <p:txBody>
          <a:bodyPr wrap="square" rtlCol="0" anchor="ctr"/>
          <a:lstStyle/>
          <a:p>
            <a:pPr marL="0" indent="0">
              <a:buNone/>
            </a:pPr>
            <a:r>
              <a:rPr lang="en-US" sz="1100" b="1" dirty="0">
                <a:solidFill>
                  <a:srgbClr val="02A886"/>
                </a:solidFill>
                <a:latin typeface="Calibri" pitchFamily="34" charset="0"/>
                <a:ea typeface="Calibri" pitchFamily="34" charset="-122"/>
                <a:cs typeface="Calibri" pitchFamily="34" charset="-120"/>
              </a:rPr>
              <a:t>Comparison: Primary vs Cascade</a:t>
            </a:r>
            <a:endParaRPr lang="en-US" sz="1100" dirty="0"/>
          </a:p>
        </p:txBody>
      </p:sp>
      <p:sp>
        <p:nvSpPr>
          <p:cNvPr id="29" name="Text 27"/>
          <p:cNvSpPr/>
          <p:nvPr/>
        </p:nvSpPr>
        <p:spPr>
          <a:xfrm>
            <a:off x="3310128" y="2871216"/>
            <a:ext cx="2560320" cy="1856232"/>
          </a:xfrm>
          <a:prstGeom prst="rect">
            <a:avLst/>
          </a:prstGeom>
          <a:noFill/>
          <a:ln/>
        </p:spPr>
        <p:txBody>
          <a:bodyPr wrap="square" rtlCol="0" anchor="ctr"/>
          <a:lstStyle/>
          <a:p>
            <a:pPr marL="0" indent="0">
              <a:spcAft>
                <a:spcPts val="400"/>
              </a:spcAft>
              <a:buNone/>
            </a:pPr>
            <a:r>
              <a:rPr lang="en-US" sz="950" dirty="0">
                <a:solidFill>
                  <a:srgbClr val="1C2B30"/>
                </a:solidFill>
                <a:latin typeface="Calibri" pitchFamily="34" charset="0"/>
                <a:ea typeface="Calibri" pitchFamily="34" charset="-122"/>
                <a:cs typeface="Calibri" pitchFamily="34" charset="-120"/>
              </a:rPr>
              <a:t>Two classification reports are generated side-by-side: one for the primary model alone and one for the full cascade. The cascade is expected to show improved recall and F1 for Moderate (Class 2) and Severe (Class 3) — the most clinically significant and hardest-to-classify grades.</a:t>
            </a:r>
            <a:endParaRPr lang="en-US" sz="950" dirty="0"/>
          </a:p>
        </p:txBody>
      </p:sp>
      <p:sp>
        <p:nvSpPr>
          <p:cNvPr id="30" name="Shape 28"/>
          <p:cNvSpPr/>
          <p:nvPr/>
        </p:nvSpPr>
        <p:spPr>
          <a:xfrm>
            <a:off x="6071616" y="2423160"/>
            <a:ext cx="2788920" cy="237744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31" name="Shape 29"/>
          <p:cNvSpPr/>
          <p:nvPr/>
        </p:nvSpPr>
        <p:spPr>
          <a:xfrm>
            <a:off x="6071616" y="2423160"/>
            <a:ext cx="64008" cy="2377440"/>
          </a:xfrm>
          <a:prstGeom prst="rect">
            <a:avLst/>
          </a:prstGeom>
          <a:solidFill>
            <a:srgbClr val="E85D04"/>
          </a:solidFill>
          <a:ln w="12700">
            <a:solidFill>
              <a:srgbClr val="E85D04"/>
            </a:solidFill>
            <a:prstDash val="solid"/>
          </a:ln>
        </p:spPr>
      </p:sp>
      <p:sp>
        <p:nvSpPr>
          <p:cNvPr id="32" name="Text 30"/>
          <p:cNvSpPr/>
          <p:nvPr/>
        </p:nvSpPr>
        <p:spPr>
          <a:xfrm>
            <a:off x="6208776" y="2468880"/>
            <a:ext cx="2560320" cy="384048"/>
          </a:xfrm>
          <a:prstGeom prst="rect">
            <a:avLst/>
          </a:prstGeom>
          <a:noFill/>
          <a:ln/>
        </p:spPr>
        <p:txBody>
          <a:bodyPr wrap="square" rtlCol="0" anchor="ctr"/>
          <a:lstStyle/>
          <a:p>
            <a:pPr marL="0" indent="0">
              <a:buNone/>
            </a:pPr>
            <a:r>
              <a:rPr lang="en-US" sz="1100" b="1" dirty="0">
                <a:solidFill>
                  <a:srgbClr val="E85D04"/>
                </a:solidFill>
                <a:latin typeface="Calibri" pitchFamily="34" charset="0"/>
                <a:ea typeface="Calibri" pitchFamily="34" charset="-122"/>
                <a:cs typeface="Calibri" pitchFamily="34" charset="-120"/>
              </a:rPr>
              <a:t>Clinical Significance</a:t>
            </a:r>
            <a:endParaRPr lang="en-US" sz="1100" dirty="0"/>
          </a:p>
        </p:txBody>
      </p:sp>
      <p:sp>
        <p:nvSpPr>
          <p:cNvPr id="33" name="Text 31"/>
          <p:cNvSpPr/>
          <p:nvPr/>
        </p:nvSpPr>
        <p:spPr>
          <a:xfrm>
            <a:off x="6208776" y="2871216"/>
            <a:ext cx="2560320" cy="1856232"/>
          </a:xfrm>
          <a:prstGeom prst="rect">
            <a:avLst/>
          </a:prstGeom>
          <a:noFill/>
          <a:ln/>
        </p:spPr>
        <p:txBody>
          <a:bodyPr wrap="square" rtlCol="0" anchor="ctr"/>
          <a:lstStyle/>
          <a:p>
            <a:pPr marL="0" indent="0">
              <a:spcAft>
                <a:spcPts val="400"/>
              </a:spcAft>
              <a:buNone/>
            </a:pPr>
            <a:r>
              <a:rPr lang="en-US" sz="950" dirty="0">
                <a:solidFill>
                  <a:srgbClr val="1C2B30"/>
                </a:solidFill>
                <a:latin typeface="Calibri" pitchFamily="34" charset="0"/>
                <a:ea typeface="Calibri" pitchFamily="34" charset="-122"/>
                <a:cs typeface="Calibri" pitchFamily="34" charset="-120"/>
              </a:rPr>
              <a:t>In nephrology, accurate grading of glomerular damage directly informs treatment decisions. Underestimating severity (predicting Mild when Moderate) can delay treatment escalation. The cascade's uncertainty-routing mechanism improves reliability, making it viable as a clinical decision support tool.</a:t>
            </a:r>
            <a:endParaRPr lang="en-US" sz="950" dirty="0"/>
          </a:p>
        </p:txBody>
      </p:sp>
      <p:sp>
        <p:nvSpPr>
          <p:cNvPr id="34" name="Shape 32"/>
          <p:cNvSpPr/>
          <p:nvPr/>
        </p:nvSpPr>
        <p:spPr>
          <a:xfrm>
            <a:off x="274320" y="4892040"/>
            <a:ext cx="8595360" cy="292608"/>
          </a:xfrm>
          <a:prstGeom prst="rect">
            <a:avLst/>
          </a:prstGeom>
          <a:solidFill>
            <a:srgbClr val="D4F1EB"/>
          </a:solidFill>
          <a:ln w="15240">
            <a:solidFill>
              <a:srgbClr val="C5E8E4"/>
            </a:solidFill>
            <a:prstDash val="solid"/>
          </a:ln>
          <a:effectLst>
            <a:outerShdw blurRad="76200" dist="25400" dir="8100000" algn="bl" rotWithShape="0">
              <a:srgbClr val="000000">
                <a:alpha val="8000"/>
              </a:srgbClr>
            </a:outerShdw>
          </a:effectLst>
        </p:spPr>
      </p:sp>
      <p:sp>
        <p:nvSpPr>
          <p:cNvPr id="35" name="Text 33"/>
          <p:cNvSpPr/>
          <p:nvPr/>
        </p:nvSpPr>
        <p:spPr>
          <a:xfrm>
            <a:off x="411480" y="4892040"/>
            <a:ext cx="8321040" cy="292608"/>
          </a:xfrm>
          <a:prstGeom prst="rect">
            <a:avLst/>
          </a:prstGeom>
          <a:noFill/>
          <a:ln/>
        </p:spPr>
        <p:txBody>
          <a:bodyPr wrap="square" lIns="0" tIns="0" rIns="0" bIns="0" rtlCol="0" anchor="ctr"/>
          <a:lstStyle/>
          <a:p>
            <a:pPr marL="0" indent="0">
              <a:buNone/>
            </a:pPr>
            <a:endParaRPr lang="en-US" sz="950" dirty="0"/>
          </a:p>
        </p:txBody>
      </p:sp>
      <p:sp>
        <p:nvSpPr>
          <p:cNvPr id="36" name="Shape 34"/>
          <p:cNvSpPr/>
          <p:nvPr/>
        </p:nvSpPr>
        <p:spPr>
          <a:xfrm>
            <a:off x="0" y="4983480"/>
            <a:ext cx="9144000" cy="160020"/>
          </a:xfrm>
          <a:prstGeom prst="rect">
            <a:avLst/>
          </a:prstGeom>
          <a:solidFill>
            <a:srgbClr val="D4F1EB"/>
          </a:solidFill>
          <a:ln w="12700">
            <a:solidFill>
              <a:srgbClr val="D4F1EB"/>
            </a:solidFill>
            <a:prstDash val="solid"/>
          </a:ln>
        </p:spPr>
      </p:sp>
      <p:sp>
        <p:nvSpPr>
          <p:cNvPr id="37" name="Text 35"/>
          <p:cNvSpPr/>
          <p:nvPr/>
        </p:nvSpPr>
        <p:spPr>
          <a:xfrm>
            <a:off x="274320" y="4983480"/>
            <a:ext cx="8595360" cy="160020"/>
          </a:xfrm>
          <a:prstGeom prst="rect">
            <a:avLst/>
          </a:prstGeom>
          <a:noFill/>
          <a:ln/>
        </p:spPr>
        <p:txBody>
          <a:bodyPr wrap="square" lIns="0" tIns="0" rIns="0" bIns="0" rtlCol="0" anchor="ctr"/>
          <a:lstStyle/>
          <a:p>
            <a:pPr marL="0" indent="0">
              <a:buNone/>
            </a:pP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FF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28090"/>
          </a:solidFill>
          <a:ln w="12700">
            <a:solidFill>
              <a:srgbClr val="028090"/>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Conclusion &amp; Future Work</a:t>
            </a:r>
            <a:endParaRPr lang="en-US" sz="1700" dirty="0"/>
          </a:p>
        </p:txBody>
      </p:sp>
      <p:sp>
        <p:nvSpPr>
          <p:cNvPr id="4" name="Shape 2"/>
          <p:cNvSpPr/>
          <p:nvPr/>
        </p:nvSpPr>
        <p:spPr>
          <a:xfrm>
            <a:off x="274320" y="658368"/>
            <a:ext cx="8595360" cy="182880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5" name="Shape 3"/>
          <p:cNvSpPr/>
          <p:nvPr/>
        </p:nvSpPr>
        <p:spPr>
          <a:xfrm>
            <a:off x="274320" y="658368"/>
            <a:ext cx="64008" cy="1828800"/>
          </a:xfrm>
          <a:prstGeom prst="rect">
            <a:avLst/>
          </a:prstGeom>
          <a:solidFill>
            <a:srgbClr val="028090"/>
          </a:solidFill>
          <a:ln w="12700">
            <a:solidFill>
              <a:srgbClr val="028090"/>
            </a:solidFill>
            <a:prstDash val="solid"/>
          </a:ln>
        </p:spPr>
      </p:sp>
      <p:sp>
        <p:nvSpPr>
          <p:cNvPr id="6" name="Text 4"/>
          <p:cNvSpPr/>
          <p:nvPr/>
        </p:nvSpPr>
        <p:spPr>
          <a:xfrm>
            <a:off x="457200" y="704088"/>
            <a:ext cx="8229600" cy="320040"/>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What This Project Achieves</a:t>
            </a:r>
            <a:endParaRPr lang="en-US" sz="1200" dirty="0"/>
          </a:p>
        </p:txBody>
      </p:sp>
      <p:sp>
        <p:nvSpPr>
          <p:cNvPr id="7" name="Shape 5"/>
          <p:cNvSpPr/>
          <p:nvPr/>
        </p:nvSpPr>
        <p:spPr>
          <a:xfrm>
            <a:off x="457200" y="1106424"/>
            <a:ext cx="118872" cy="118872"/>
          </a:xfrm>
          <a:prstGeom prst="ellipse">
            <a:avLst/>
          </a:prstGeom>
          <a:solidFill>
            <a:srgbClr val="028090"/>
          </a:solidFill>
          <a:ln w="12700">
            <a:solidFill>
              <a:srgbClr val="028090"/>
            </a:solidFill>
            <a:prstDash val="solid"/>
          </a:ln>
        </p:spPr>
      </p:sp>
      <p:sp>
        <p:nvSpPr>
          <p:cNvPr id="8" name="Text 6"/>
          <p:cNvSpPr/>
          <p:nvPr/>
        </p:nvSpPr>
        <p:spPr>
          <a:xfrm>
            <a:off x="640080" y="1078992"/>
            <a:ext cx="8138160" cy="265176"/>
          </a:xfrm>
          <a:prstGeom prst="rect">
            <a:avLst/>
          </a:prstGeom>
          <a:noFill/>
          <a:ln/>
        </p:spPr>
        <p:txBody>
          <a:bodyPr wrap="square" rtlCol="0" anchor="ctr"/>
          <a:lstStyle/>
          <a:p>
            <a:pPr marL="0" indent="0">
              <a:buNone/>
            </a:pPr>
            <a:r>
              <a:rPr lang="en-US" sz="1050" dirty="0">
                <a:solidFill>
                  <a:srgbClr val="1C2B30"/>
                </a:solidFill>
                <a:latin typeface="Calibri" pitchFamily="34" charset="0"/>
                <a:ea typeface="Calibri" pitchFamily="34" charset="-122"/>
                <a:cs typeface="Calibri" pitchFamily="34" charset="-120"/>
              </a:rPr>
              <a:t>A complete, production-ready pipeline from raw pickle annotations to model-ready JSON, handling expert disagreement via majority voting.</a:t>
            </a:r>
            <a:endParaRPr lang="en-US" sz="1050" dirty="0"/>
          </a:p>
        </p:txBody>
      </p:sp>
      <p:sp>
        <p:nvSpPr>
          <p:cNvPr id="9" name="Shape 7"/>
          <p:cNvSpPr/>
          <p:nvPr/>
        </p:nvSpPr>
        <p:spPr>
          <a:xfrm>
            <a:off x="457200" y="1399032"/>
            <a:ext cx="118872" cy="118872"/>
          </a:xfrm>
          <a:prstGeom prst="ellipse">
            <a:avLst/>
          </a:prstGeom>
          <a:solidFill>
            <a:srgbClr val="028090"/>
          </a:solidFill>
          <a:ln w="12700">
            <a:solidFill>
              <a:srgbClr val="028090"/>
            </a:solidFill>
            <a:prstDash val="solid"/>
          </a:ln>
        </p:spPr>
      </p:sp>
      <p:sp>
        <p:nvSpPr>
          <p:cNvPr id="10" name="Text 8"/>
          <p:cNvSpPr/>
          <p:nvPr/>
        </p:nvSpPr>
        <p:spPr>
          <a:xfrm>
            <a:off x="640080" y="1371600"/>
            <a:ext cx="8138160" cy="265176"/>
          </a:xfrm>
          <a:prstGeom prst="rect">
            <a:avLst/>
          </a:prstGeom>
          <a:noFill/>
          <a:ln/>
        </p:spPr>
        <p:txBody>
          <a:bodyPr wrap="square" rtlCol="0" anchor="ctr"/>
          <a:lstStyle/>
          <a:p>
            <a:pPr marL="0" indent="0">
              <a:buNone/>
            </a:pPr>
            <a:r>
              <a:rPr lang="en-US" sz="1050" dirty="0">
                <a:solidFill>
                  <a:srgbClr val="1C2B30"/>
                </a:solidFill>
                <a:latin typeface="Calibri" pitchFamily="34" charset="0"/>
                <a:ea typeface="Calibri" pitchFamily="34" charset="-122"/>
                <a:cs typeface="Calibri" pitchFamily="34" charset="-120"/>
              </a:rPr>
              <a:t>Slide-wise data splitting that prevents data leakage and ensures genuine generalization to unseen biopsy slides.</a:t>
            </a:r>
            <a:endParaRPr lang="en-US" sz="1050" dirty="0"/>
          </a:p>
        </p:txBody>
      </p:sp>
      <p:sp>
        <p:nvSpPr>
          <p:cNvPr id="11" name="Shape 9"/>
          <p:cNvSpPr/>
          <p:nvPr/>
        </p:nvSpPr>
        <p:spPr>
          <a:xfrm>
            <a:off x="457200" y="1691640"/>
            <a:ext cx="118872" cy="118872"/>
          </a:xfrm>
          <a:prstGeom prst="ellipse">
            <a:avLst/>
          </a:prstGeom>
          <a:solidFill>
            <a:srgbClr val="028090"/>
          </a:solidFill>
          <a:ln w="12700">
            <a:solidFill>
              <a:srgbClr val="028090"/>
            </a:solidFill>
            <a:prstDash val="solid"/>
          </a:ln>
        </p:spPr>
      </p:sp>
      <p:sp>
        <p:nvSpPr>
          <p:cNvPr id="12" name="Text 10"/>
          <p:cNvSpPr/>
          <p:nvPr/>
        </p:nvSpPr>
        <p:spPr>
          <a:xfrm>
            <a:off x="640080" y="1664208"/>
            <a:ext cx="8138160" cy="265176"/>
          </a:xfrm>
          <a:prstGeom prst="rect">
            <a:avLst/>
          </a:prstGeom>
          <a:noFill/>
          <a:ln/>
        </p:spPr>
        <p:txBody>
          <a:bodyPr wrap="square" rtlCol="0" anchor="ctr"/>
          <a:lstStyle/>
          <a:p>
            <a:pPr marL="0" indent="0">
              <a:buNone/>
            </a:pPr>
            <a:r>
              <a:rPr lang="en-US" sz="1050" dirty="0">
                <a:solidFill>
                  <a:srgbClr val="1C2B30"/>
                </a:solidFill>
                <a:latin typeface="Calibri" pitchFamily="34" charset="0"/>
                <a:ea typeface="Calibri" pitchFamily="34" charset="-122"/>
                <a:cs typeface="Calibri" pitchFamily="34" charset="-120"/>
              </a:rPr>
              <a:t>A Confidence Cascade architecture that pairs EfficientNet-B3's efficiency with ViT-B16's global attention for uncertain cases.</a:t>
            </a:r>
            <a:endParaRPr lang="en-US" sz="1050" dirty="0"/>
          </a:p>
        </p:txBody>
      </p:sp>
      <p:sp>
        <p:nvSpPr>
          <p:cNvPr id="13" name="Shape 11"/>
          <p:cNvSpPr/>
          <p:nvPr/>
        </p:nvSpPr>
        <p:spPr>
          <a:xfrm>
            <a:off x="457200" y="1984248"/>
            <a:ext cx="118872" cy="118872"/>
          </a:xfrm>
          <a:prstGeom prst="ellipse">
            <a:avLst/>
          </a:prstGeom>
          <a:solidFill>
            <a:srgbClr val="028090"/>
          </a:solidFill>
          <a:ln w="12700">
            <a:solidFill>
              <a:srgbClr val="028090"/>
            </a:solidFill>
            <a:prstDash val="solid"/>
          </a:ln>
        </p:spPr>
      </p:sp>
      <p:sp>
        <p:nvSpPr>
          <p:cNvPr id="14" name="Text 12"/>
          <p:cNvSpPr/>
          <p:nvPr/>
        </p:nvSpPr>
        <p:spPr>
          <a:xfrm>
            <a:off x="640080" y="1956816"/>
            <a:ext cx="8138160" cy="265176"/>
          </a:xfrm>
          <a:prstGeom prst="rect">
            <a:avLst/>
          </a:prstGeom>
          <a:noFill/>
          <a:ln/>
        </p:spPr>
        <p:txBody>
          <a:bodyPr wrap="square" rtlCol="0" anchor="ctr"/>
          <a:lstStyle/>
          <a:p>
            <a:pPr marL="0" indent="0">
              <a:buNone/>
            </a:pPr>
            <a:r>
              <a:rPr lang="en-US" sz="1050" dirty="0">
                <a:solidFill>
                  <a:srgbClr val="1C2B30"/>
                </a:solidFill>
                <a:latin typeface="Calibri" pitchFamily="34" charset="0"/>
                <a:ea typeface="Calibri" pitchFamily="34" charset="-122"/>
                <a:cs typeface="Calibri" pitchFamily="34" charset="-120"/>
              </a:rPr>
              <a:t>Class balancing via weighted loss functions that prevents the model from ignoring clinically important minority severity grades.</a:t>
            </a:r>
            <a:endParaRPr lang="en-US" sz="1050" dirty="0"/>
          </a:p>
        </p:txBody>
      </p:sp>
      <p:sp>
        <p:nvSpPr>
          <p:cNvPr id="15" name="Shape 13"/>
          <p:cNvSpPr/>
          <p:nvPr/>
        </p:nvSpPr>
        <p:spPr>
          <a:xfrm>
            <a:off x="457200" y="2276856"/>
            <a:ext cx="118872" cy="118872"/>
          </a:xfrm>
          <a:prstGeom prst="ellipse">
            <a:avLst/>
          </a:prstGeom>
          <a:solidFill>
            <a:srgbClr val="028090"/>
          </a:solidFill>
          <a:ln w="12700">
            <a:solidFill>
              <a:srgbClr val="028090"/>
            </a:solidFill>
            <a:prstDash val="solid"/>
          </a:ln>
        </p:spPr>
      </p:sp>
      <p:sp>
        <p:nvSpPr>
          <p:cNvPr id="16" name="Text 14"/>
          <p:cNvSpPr/>
          <p:nvPr/>
        </p:nvSpPr>
        <p:spPr>
          <a:xfrm>
            <a:off x="640080" y="2249424"/>
            <a:ext cx="8138160" cy="265176"/>
          </a:xfrm>
          <a:prstGeom prst="rect">
            <a:avLst/>
          </a:prstGeom>
          <a:noFill/>
          <a:ln/>
        </p:spPr>
        <p:txBody>
          <a:bodyPr wrap="square" rtlCol="0" anchor="ctr"/>
          <a:lstStyle/>
          <a:p>
            <a:pPr marL="0" indent="0">
              <a:buNone/>
            </a:pPr>
            <a:r>
              <a:rPr lang="en-US" sz="1050" dirty="0">
                <a:solidFill>
                  <a:srgbClr val="1C2B30"/>
                </a:solidFill>
                <a:latin typeface="Calibri" pitchFamily="34" charset="0"/>
                <a:ea typeface="Calibri" pitchFamily="34" charset="-122"/>
                <a:cs typeface="Calibri" pitchFamily="34" charset="-120"/>
              </a:rPr>
              <a:t>Comprehensive evaluation: per-class precision/recall/F1, confusion matrices, and AUC-ROC curves for both primary-only and cascade results.</a:t>
            </a:r>
            <a:endParaRPr lang="en-US" sz="1050" dirty="0"/>
          </a:p>
        </p:txBody>
      </p:sp>
      <p:sp>
        <p:nvSpPr>
          <p:cNvPr id="17" name="Shape 15"/>
          <p:cNvSpPr/>
          <p:nvPr/>
        </p:nvSpPr>
        <p:spPr>
          <a:xfrm>
            <a:off x="274320" y="2606040"/>
            <a:ext cx="2788920" cy="169164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18" name="Shape 16"/>
          <p:cNvSpPr/>
          <p:nvPr/>
        </p:nvSpPr>
        <p:spPr>
          <a:xfrm>
            <a:off x="274320" y="2606040"/>
            <a:ext cx="64008" cy="1691640"/>
          </a:xfrm>
          <a:prstGeom prst="rect">
            <a:avLst/>
          </a:prstGeom>
          <a:solidFill>
            <a:srgbClr val="028090"/>
          </a:solidFill>
          <a:ln w="12700">
            <a:solidFill>
              <a:srgbClr val="028090"/>
            </a:solidFill>
            <a:prstDash val="solid"/>
          </a:ln>
        </p:spPr>
      </p:sp>
      <p:sp>
        <p:nvSpPr>
          <p:cNvPr id="19" name="Text 17"/>
          <p:cNvSpPr/>
          <p:nvPr/>
        </p:nvSpPr>
        <p:spPr>
          <a:xfrm>
            <a:off x="411480" y="2651760"/>
            <a:ext cx="2560320" cy="347472"/>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Grad-CAM Visualisation</a:t>
            </a:r>
            <a:endParaRPr lang="en-US" sz="1100" dirty="0"/>
          </a:p>
        </p:txBody>
      </p:sp>
      <p:sp>
        <p:nvSpPr>
          <p:cNvPr id="20" name="Text 18"/>
          <p:cNvSpPr/>
          <p:nvPr/>
        </p:nvSpPr>
        <p:spPr>
          <a:xfrm>
            <a:off x="411480" y="3017520"/>
            <a:ext cx="2560320" cy="118872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Implement Gradient-weighted Class Activation Maps (Grad-CAM) to visualise which glomerular regions the model focuses on per severity class. This supports explainability and helps pathologists validate model decisions in clinical review.</a:t>
            </a:r>
            <a:endParaRPr lang="en-US" sz="950" dirty="0"/>
          </a:p>
        </p:txBody>
      </p:sp>
      <p:sp>
        <p:nvSpPr>
          <p:cNvPr id="21" name="Shape 19"/>
          <p:cNvSpPr/>
          <p:nvPr/>
        </p:nvSpPr>
        <p:spPr>
          <a:xfrm>
            <a:off x="3172968" y="2606040"/>
            <a:ext cx="2788920" cy="169164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22" name="Shape 20"/>
          <p:cNvSpPr/>
          <p:nvPr/>
        </p:nvSpPr>
        <p:spPr>
          <a:xfrm>
            <a:off x="3172968" y="2606040"/>
            <a:ext cx="64008" cy="1691640"/>
          </a:xfrm>
          <a:prstGeom prst="rect">
            <a:avLst/>
          </a:prstGeom>
          <a:solidFill>
            <a:srgbClr val="02A886"/>
          </a:solidFill>
          <a:ln w="12700">
            <a:solidFill>
              <a:srgbClr val="02A886"/>
            </a:solidFill>
            <a:prstDash val="solid"/>
          </a:ln>
        </p:spPr>
      </p:sp>
      <p:sp>
        <p:nvSpPr>
          <p:cNvPr id="23" name="Text 21"/>
          <p:cNvSpPr/>
          <p:nvPr/>
        </p:nvSpPr>
        <p:spPr>
          <a:xfrm>
            <a:off x="3310128" y="2651760"/>
            <a:ext cx="2560320" cy="347472"/>
          </a:xfrm>
          <a:prstGeom prst="rect">
            <a:avLst/>
          </a:prstGeom>
          <a:noFill/>
          <a:ln/>
        </p:spPr>
        <p:txBody>
          <a:bodyPr wrap="square" rtlCol="0" anchor="ctr"/>
          <a:lstStyle/>
          <a:p>
            <a:pPr marL="0" indent="0">
              <a:buNone/>
            </a:pPr>
            <a:r>
              <a:rPr lang="en-US" sz="1100" b="1" dirty="0">
                <a:solidFill>
                  <a:srgbClr val="02A886"/>
                </a:solidFill>
                <a:latin typeface="Calibri" pitchFamily="34" charset="0"/>
                <a:ea typeface="Calibri" pitchFamily="34" charset="-122"/>
                <a:cs typeface="Calibri" pitchFamily="34" charset="-120"/>
              </a:rPr>
              <a:t>Ensemble Probability Fusion</a:t>
            </a:r>
            <a:endParaRPr lang="en-US" sz="1100" dirty="0"/>
          </a:p>
        </p:txBody>
      </p:sp>
      <p:sp>
        <p:nvSpPr>
          <p:cNvPr id="24" name="Text 22"/>
          <p:cNvSpPr/>
          <p:nvPr/>
        </p:nvSpPr>
        <p:spPr>
          <a:xfrm>
            <a:off x="3310128" y="3017520"/>
            <a:ext cx="2560320" cy="118872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Instead of replacing primary predictions with refiner predictions, fuse the probability vectors using weighted averaging. This could further improve calibration, especially for borderline Mild/Moderate cases where both models may offer useful signal.</a:t>
            </a:r>
            <a:endParaRPr lang="en-US" sz="950" dirty="0"/>
          </a:p>
        </p:txBody>
      </p:sp>
      <p:sp>
        <p:nvSpPr>
          <p:cNvPr id="25" name="Shape 23"/>
          <p:cNvSpPr/>
          <p:nvPr/>
        </p:nvSpPr>
        <p:spPr>
          <a:xfrm>
            <a:off x="6071616" y="2606040"/>
            <a:ext cx="2788920" cy="1691640"/>
          </a:xfrm>
          <a:prstGeom prst="rect">
            <a:avLst/>
          </a:prstGeom>
          <a:solidFill>
            <a:srgbClr val="FFFFFF"/>
          </a:solidFill>
          <a:ln w="15240">
            <a:solidFill>
              <a:srgbClr val="C5E8E4"/>
            </a:solidFill>
            <a:prstDash val="solid"/>
          </a:ln>
          <a:effectLst>
            <a:outerShdw blurRad="76200" dist="25400" dir="8100000" algn="bl" rotWithShape="0">
              <a:srgbClr val="000000">
                <a:alpha val="8000"/>
              </a:srgbClr>
            </a:outerShdw>
          </a:effectLst>
        </p:spPr>
      </p:sp>
      <p:sp>
        <p:nvSpPr>
          <p:cNvPr id="26" name="Shape 24"/>
          <p:cNvSpPr/>
          <p:nvPr/>
        </p:nvSpPr>
        <p:spPr>
          <a:xfrm>
            <a:off x="6071616" y="2606040"/>
            <a:ext cx="64008" cy="1691640"/>
          </a:xfrm>
          <a:prstGeom prst="rect">
            <a:avLst/>
          </a:prstGeom>
          <a:solidFill>
            <a:srgbClr val="E85D04"/>
          </a:solidFill>
          <a:ln w="12700">
            <a:solidFill>
              <a:srgbClr val="E85D04"/>
            </a:solidFill>
            <a:prstDash val="solid"/>
          </a:ln>
        </p:spPr>
      </p:sp>
      <p:sp>
        <p:nvSpPr>
          <p:cNvPr id="27" name="Text 25"/>
          <p:cNvSpPr/>
          <p:nvPr/>
        </p:nvSpPr>
        <p:spPr>
          <a:xfrm>
            <a:off x="6208776" y="2651760"/>
            <a:ext cx="2560320" cy="347472"/>
          </a:xfrm>
          <a:prstGeom prst="rect">
            <a:avLst/>
          </a:prstGeom>
          <a:noFill/>
          <a:ln/>
        </p:spPr>
        <p:txBody>
          <a:bodyPr wrap="square" rtlCol="0" anchor="ctr"/>
          <a:lstStyle/>
          <a:p>
            <a:pPr marL="0" indent="0">
              <a:buNone/>
            </a:pPr>
            <a:r>
              <a:rPr lang="en-US" sz="1100" b="1" dirty="0">
                <a:solidFill>
                  <a:srgbClr val="E85D04"/>
                </a:solidFill>
                <a:latin typeface="Calibri" pitchFamily="34" charset="0"/>
                <a:ea typeface="Calibri" pitchFamily="34" charset="-122"/>
                <a:cs typeface="Calibri" pitchFamily="34" charset="-120"/>
              </a:rPr>
              <a:t>Web-based Inference Tool</a:t>
            </a:r>
            <a:endParaRPr lang="en-US" sz="1100" dirty="0"/>
          </a:p>
        </p:txBody>
      </p:sp>
      <p:sp>
        <p:nvSpPr>
          <p:cNvPr id="28" name="Text 26"/>
          <p:cNvSpPr/>
          <p:nvPr/>
        </p:nvSpPr>
        <p:spPr>
          <a:xfrm>
            <a:off x="6208776" y="3017520"/>
            <a:ext cx="2560320" cy="1188720"/>
          </a:xfrm>
          <a:prstGeom prst="rect">
            <a:avLst/>
          </a:prstGeom>
          <a:noFill/>
          <a:ln/>
        </p:spPr>
        <p:txBody>
          <a:bodyPr wrap="square" rtlCol="0" anchor="ctr"/>
          <a:lstStyle/>
          <a:p>
            <a:pPr marL="0" indent="0">
              <a:spcAft>
                <a:spcPts val="300"/>
              </a:spcAft>
              <a:buNone/>
            </a:pPr>
            <a:r>
              <a:rPr lang="en-US" sz="950" dirty="0">
                <a:solidFill>
                  <a:srgbClr val="1C2B30"/>
                </a:solidFill>
                <a:latin typeface="Calibri" pitchFamily="34" charset="0"/>
                <a:ea typeface="Calibri" pitchFamily="34" charset="-122"/>
                <a:cs typeface="Calibri" pitchFamily="34" charset="-120"/>
              </a:rPr>
              <a:t>Deploy the trained cascade as a web API (FastAPI or Flask). Pathologists upload a glomerulus patch image and receive the predicted severity grade along with a confidence score and Grad-CAM heatmap for clinical interpretation.</a:t>
            </a:r>
            <a:endParaRPr lang="en-US" sz="950" dirty="0"/>
          </a:p>
        </p:txBody>
      </p:sp>
      <p:sp>
        <p:nvSpPr>
          <p:cNvPr id="30" name="Text 28"/>
          <p:cNvSpPr/>
          <p:nvPr/>
        </p:nvSpPr>
        <p:spPr>
          <a:xfrm>
            <a:off x="457200" y="4416552"/>
            <a:ext cx="1097280" cy="347472"/>
          </a:xfrm>
          <a:prstGeom prst="rect">
            <a:avLst/>
          </a:prstGeom>
          <a:noFill/>
          <a:ln/>
        </p:spPr>
        <p:txBody>
          <a:bodyPr wrap="square" lIns="0" tIns="0" rIns="0" bIns="0" rtlCol="0" anchor="ctr"/>
          <a:lstStyle/>
          <a:p>
            <a:pPr marL="0" indent="0">
              <a:buNone/>
            </a:pPr>
            <a:endParaRPr lang="en-US" sz="1000" dirty="0"/>
          </a:p>
        </p:txBody>
      </p:sp>
      <p:sp>
        <p:nvSpPr>
          <p:cNvPr id="31" name="Text 29"/>
          <p:cNvSpPr/>
          <p:nvPr/>
        </p:nvSpPr>
        <p:spPr>
          <a:xfrm>
            <a:off x="1554480" y="4416552"/>
            <a:ext cx="7132320" cy="347472"/>
          </a:xfrm>
          <a:prstGeom prst="rect">
            <a:avLst/>
          </a:prstGeom>
          <a:noFill/>
          <a:ln/>
        </p:spPr>
        <p:txBody>
          <a:bodyPr wrap="square" lIns="0" tIns="0" rIns="0" bIns="0" rtlCol="0" anchor="ctr"/>
          <a:lstStyle/>
          <a:p>
            <a:pPr marL="0" indent="0">
              <a:buNone/>
            </a:pPr>
            <a:endParaRPr lang="en-US" sz="1000" dirty="0"/>
          </a:p>
        </p:txBody>
      </p:sp>
      <p:sp>
        <p:nvSpPr>
          <p:cNvPr id="32" name="Shape 30"/>
          <p:cNvSpPr/>
          <p:nvPr/>
        </p:nvSpPr>
        <p:spPr>
          <a:xfrm>
            <a:off x="0" y="4892040"/>
            <a:ext cx="9144000" cy="246888"/>
          </a:xfrm>
          <a:prstGeom prst="rect">
            <a:avLst/>
          </a:prstGeom>
          <a:solidFill>
            <a:srgbClr val="028090"/>
          </a:solidFill>
          <a:ln w="12700">
            <a:solidFill>
              <a:srgbClr val="028090"/>
            </a:solidFill>
            <a:prstDash val="solid"/>
          </a:ln>
        </p:spPr>
      </p:sp>
      <p:sp>
        <p:nvSpPr>
          <p:cNvPr id="33" name="Text 31"/>
          <p:cNvSpPr/>
          <p:nvPr/>
        </p:nvSpPr>
        <p:spPr>
          <a:xfrm>
            <a:off x="274320" y="4892040"/>
            <a:ext cx="8595360" cy="246888"/>
          </a:xfrm>
          <a:prstGeom prst="rect">
            <a:avLst/>
          </a:prstGeom>
          <a:noFill/>
          <a:ln/>
        </p:spPr>
        <p:txBody>
          <a:bodyPr wrap="square" lIns="0" tIns="0" rIns="0" bIns="0" rtlCol="0" anchor="ctr"/>
          <a:lstStyle/>
          <a:p>
            <a:pPr marL="0" indent="0" algn="ctr">
              <a:buNone/>
            </a:pP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130</TotalTime>
  <Words>2705</Words>
  <Application>Microsoft Office PowerPoint</Application>
  <PresentationFormat>On-screen Show (16:9)</PresentationFormat>
  <Paragraphs>266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Centaur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Kidney Glomeruli Grading — AI-Based Classification</dc:title>
  <dc:subject>PptxGenJS Presentation</dc:subject>
  <dc:creator>PptxGenJS</dc:creator>
  <cp:lastModifiedBy>Namithaa Krishnam</cp:lastModifiedBy>
  <cp:revision>4</cp:revision>
  <dcterms:created xsi:type="dcterms:W3CDTF">2026-03-28T10:18:23Z</dcterms:created>
  <dcterms:modified xsi:type="dcterms:W3CDTF">2026-04-02T09:44:35Z</dcterms:modified>
</cp:coreProperties>
</file>